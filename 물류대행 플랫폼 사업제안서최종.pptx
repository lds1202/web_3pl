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8" r:id="rId4"/>
    <p:sldId id="266" r:id="rId5"/>
    <p:sldId id="267" r:id="rId6"/>
    <p:sldId id="270" r:id="rId7"/>
    <p:sldId id="272" r:id="rId8"/>
    <p:sldId id="273" r:id="rId9"/>
    <p:sldId id="271" r:id="rId10"/>
    <p:sldId id="274" r:id="rId11"/>
    <p:sldId id="278" r:id="rId12"/>
    <p:sldId id="282" r:id="rId13"/>
    <p:sldId id="283" r:id="rId14"/>
    <p:sldId id="279" r:id="rId15"/>
    <p:sldId id="27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7955-78C2-4E46-A561-7FE03D31E4FF}" type="datetimeFigureOut">
              <a:rPr lang="ko-KR" altLang="en-US" smtClean="0"/>
              <a:t>2024-04-26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9596-8FE8-4D30-834E-593F06B85C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667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7955-78C2-4E46-A561-7FE03D31E4FF}" type="datetimeFigureOut">
              <a:rPr lang="ko-KR" altLang="en-US" smtClean="0"/>
              <a:t>2024-04-26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9596-8FE8-4D30-834E-593F06B85C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44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7955-78C2-4E46-A561-7FE03D31E4FF}" type="datetimeFigureOut">
              <a:rPr lang="ko-KR" altLang="en-US" smtClean="0"/>
              <a:t>2024-04-26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9596-8FE8-4D30-834E-593F06B85C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035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7955-78C2-4E46-A561-7FE03D31E4FF}" type="datetimeFigureOut">
              <a:rPr lang="ko-KR" altLang="en-US" smtClean="0"/>
              <a:t>2024-04-26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9596-8FE8-4D30-834E-593F06B85C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02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7955-78C2-4E46-A561-7FE03D31E4FF}" type="datetimeFigureOut">
              <a:rPr lang="ko-KR" altLang="en-US" smtClean="0"/>
              <a:t>2024-04-26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9596-8FE8-4D30-834E-593F06B85C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060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7955-78C2-4E46-A561-7FE03D31E4FF}" type="datetimeFigureOut">
              <a:rPr lang="ko-KR" altLang="en-US" smtClean="0"/>
              <a:t>2024-04-26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9596-8FE8-4D30-834E-593F06B85C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993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7955-78C2-4E46-A561-7FE03D31E4FF}" type="datetimeFigureOut">
              <a:rPr lang="ko-KR" altLang="en-US" smtClean="0"/>
              <a:t>2024-04-26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9596-8FE8-4D30-834E-593F06B85C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799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7955-78C2-4E46-A561-7FE03D31E4FF}" type="datetimeFigureOut">
              <a:rPr lang="ko-KR" altLang="en-US" smtClean="0"/>
              <a:t>2024-04-26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9596-8FE8-4D30-834E-593F06B85C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826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7955-78C2-4E46-A561-7FE03D31E4FF}" type="datetimeFigureOut">
              <a:rPr lang="ko-KR" altLang="en-US" smtClean="0"/>
              <a:t>2024-04-26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9596-8FE8-4D30-834E-593F06B85C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888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7955-78C2-4E46-A561-7FE03D31E4FF}" type="datetimeFigureOut">
              <a:rPr lang="ko-KR" altLang="en-US" smtClean="0"/>
              <a:t>2024-04-26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9596-8FE8-4D30-834E-593F06B85C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609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57955-78C2-4E46-A561-7FE03D31E4FF}" type="datetimeFigureOut">
              <a:rPr lang="ko-KR" altLang="en-US" smtClean="0"/>
              <a:t>2024-04-26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C9596-8FE8-4D30-834E-593F06B85C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282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57955-78C2-4E46-A561-7FE03D31E4FF}" type="datetimeFigureOut">
              <a:rPr lang="ko-KR" altLang="en-US" smtClean="0"/>
              <a:t>2024-04-26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C9596-8FE8-4D30-834E-593F06B85C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588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1067" y="313265"/>
            <a:ext cx="46169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1 0 0</a:t>
            </a:r>
            <a:r>
              <a:rPr lang="ko-KR" altLang="en-US" sz="4800" b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en-US" altLang="ko-KR" sz="4800" b="1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sz="4800" b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프로젝트 제안서</a:t>
            </a:r>
            <a:endParaRPr lang="en-US" altLang="ko-KR" sz="4800" b="1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1067" y="1967592"/>
            <a:ext cx="3310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mtClean="0"/>
              <a:t>물류팀 이덕성 팀장</a:t>
            </a:r>
            <a:endParaRPr lang="en-US" altLang="ko-KR" sz="2800" b="1" smtClean="0"/>
          </a:p>
        </p:txBody>
      </p:sp>
      <p:sp>
        <p:nvSpPr>
          <p:cNvPr id="7" name="TextBox 6"/>
          <p:cNvSpPr txBox="1"/>
          <p:nvPr/>
        </p:nvSpPr>
        <p:spPr>
          <a:xfrm>
            <a:off x="1490189" y="2870200"/>
            <a:ext cx="9235220" cy="224676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r"/>
            <a:r>
              <a:rPr lang="ko-KR" altLang="en-US" sz="9600" b="1" smtClean="0">
                <a:solidFill>
                  <a:srgbClr val="0070C0"/>
                </a:solidFill>
              </a:rPr>
              <a:t>물류대행</a:t>
            </a:r>
            <a:r>
              <a:rPr lang="ko-KR" altLang="en-US" sz="9600" b="1" smtClean="0"/>
              <a:t> </a:t>
            </a:r>
            <a:r>
              <a:rPr lang="ko-KR" altLang="en-US" sz="9600" b="1" smtClean="0">
                <a:solidFill>
                  <a:srgbClr val="FF0000"/>
                </a:solidFill>
              </a:rPr>
              <a:t>플랫폼</a:t>
            </a:r>
            <a:endParaRPr lang="en-US" altLang="ko-KR" sz="9600" b="1" smtClean="0">
              <a:solidFill>
                <a:srgbClr val="FF0000"/>
              </a:solidFill>
            </a:endParaRPr>
          </a:p>
          <a:p>
            <a:pPr algn="r"/>
            <a:r>
              <a:rPr lang="en-US" altLang="ko-KR" sz="4400" b="1" smtClean="0"/>
              <a:t>3PL Platform</a:t>
            </a:r>
            <a:endParaRPr lang="ko-KR" altLang="en-US" sz="4400" b="1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063" y="90179"/>
            <a:ext cx="2711355" cy="4461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2" descr="D:\에듀코 관련\성과발표 관련\계획 발표 자료 이미지\ㅇㄴㅇ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7496" y="659110"/>
            <a:ext cx="2818922" cy="8271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97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900859" y="2006600"/>
            <a:ext cx="2693741" cy="2692400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1598398" y="1786466"/>
            <a:ext cx="9110134" cy="3437467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31458" y="798308"/>
            <a:ext cx="7962497" cy="7315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31458" y="916212"/>
            <a:ext cx="8765918" cy="7031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itle 1">
            <a:extLst>
              <a:ext uri="{FF2B5EF4-FFF2-40B4-BE49-F238E27FC236}">
                <a16:creationId xmlns=""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0" y="34128"/>
            <a:ext cx="11753174" cy="707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54" rtl="0" eaLnBrk="1" latinLnBrk="0" hangingPunct="1">
              <a:spcBef>
                <a:spcPct val="0"/>
              </a:spcBef>
              <a:buNone/>
              <a:defRPr lang="en-US" sz="4000" b="1" kern="1200" cap="all" normalizeH="0" baseline="0">
                <a:solidFill>
                  <a:srgbClr val="2F3A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r>
              <a:rPr kumimoji="0" lang="ko-KR" altLang="en-US" sz="4000" b="1" i="0" u="none" strike="noStrike" kern="1200" cap="all" spc="0" normalizeH="0" baseline="0" noProof="0" smtClean="0">
                <a:ln>
                  <a:noFill/>
                </a:ln>
                <a:solidFill>
                  <a:srgbClr val="2F3A46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개요</a:t>
            </a:r>
            <a:endParaRPr kumimoji="0" lang="en-US" sz="4000" b="1" i="0" u="none" strike="noStrike" kern="1200" cap="all" spc="0" normalizeH="0" baseline="0" noProof="0" dirty="0">
              <a:ln>
                <a:noFill/>
              </a:ln>
              <a:solidFill>
                <a:srgbClr val="2F3A46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02479" y="3039534"/>
            <a:ext cx="1733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쓰던 물건을 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팔고 싶은 사람</a:t>
            </a:r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94008" y="3039535"/>
            <a:ext cx="1882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물건을 저렴하게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사고 싶은 사람</a:t>
            </a:r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6" y="2057488"/>
            <a:ext cx="1264449" cy="1242772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910" y="3182256"/>
            <a:ext cx="1581150" cy="676275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9910" y="3858531"/>
            <a:ext cx="1800225" cy="7048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125813" y="1523517"/>
            <a:ext cx="254428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4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중고 거래 플랫폼</a:t>
            </a:r>
            <a:endParaRPr lang="ko-KR" altLang="en-US" sz="24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3909" y="5447288"/>
            <a:ext cx="96520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mtClean="0"/>
              <a:t>쓰던 물건을 팔고 싶은사람과 사고 싶은 사람을 연결해주는 플랫폼 </a:t>
            </a:r>
            <a:r>
              <a:rPr lang="en-US" altLang="ko-KR" sz="2400" smtClean="0"/>
              <a:t>: </a:t>
            </a:r>
            <a:endParaRPr lang="en-US" altLang="ko-KR" sz="2400" smtClean="0"/>
          </a:p>
          <a:p>
            <a:r>
              <a:rPr lang="ko-KR" altLang="en-US" sz="2400" smtClean="0"/>
              <a:t>당근마켓</a:t>
            </a:r>
            <a:r>
              <a:rPr lang="en-US" altLang="ko-KR" sz="2400" smtClean="0"/>
              <a:t>, </a:t>
            </a:r>
            <a:r>
              <a:rPr lang="ko-KR" altLang="en-US" sz="2400" smtClean="0"/>
              <a:t>번개장터</a:t>
            </a:r>
            <a:r>
              <a:rPr lang="en-US" altLang="ko-KR" sz="2400" smtClean="0"/>
              <a:t>, </a:t>
            </a:r>
            <a:r>
              <a:rPr lang="ko-KR" altLang="en-US" sz="2400" smtClean="0"/>
              <a:t>중고나라 등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749867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900859" y="2006600"/>
            <a:ext cx="2693741" cy="2692400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1598398" y="1786466"/>
            <a:ext cx="9110134" cy="3437467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31458" y="798308"/>
            <a:ext cx="7962497" cy="7315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31458" y="916212"/>
            <a:ext cx="8765918" cy="7031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itle 1">
            <a:extLst>
              <a:ext uri="{FF2B5EF4-FFF2-40B4-BE49-F238E27FC236}">
                <a16:creationId xmlns=""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0" y="34128"/>
            <a:ext cx="11753174" cy="707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54" rtl="0" eaLnBrk="1" latinLnBrk="0" hangingPunct="1">
              <a:spcBef>
                <a:spcPct val="0"/>
              </a:spcBef>
              <a:buNone/>
              <a:defRPr lang="en-US" sz="4000" b="1" kern="1200" cap="all" normalizeH="0" baseline="0">
                <a:solidFill>
                  <a:srgbClr val="2F3A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r>
              <a:rPr kumimoji="0" lang="ko-KR" altLang="en-US" sz="4000" b="1" i="0" u="none" strike="noStrike" kern="1200" cap="all" spc="0" normalizeH="0" baseline="0" noProof="0" smtClean="0">
                <a:ln>
                  <a:noFill/>
                </a:ln>
                <a:solidFill>
                  <a:srgbClr val="2F3A46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개요</a:t>
            </a:r>
            <a:endParaRPr kumimoji="0" lang="en-US" sz="4000" b="1" i="0" u="none" strike="noStrike" kern="1200" cap="all" spc="0" normalizeH="0" baseline="0" noProof="0" dirty="0">
              <a:ln>
                <a:noFill/>
              </a:ln>
              <a:solidFill>
                <a:srgbClr val="2F3A46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71364" y="3033328"/>
            <a:ext cx="18004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알바를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채용 하고 싶은 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기업</a:t>
            </a:r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51018" y="3165100"/>
            <a:ext cx="14927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알바를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구하고 싶은 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사람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660" y="2684813"/>
            <a:ext cx="1609725" cy="523875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735" y="3260559"/>
            <a:ext cx="1771650" cy="838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25813" y="1523517"/>
            <a:ext cx="182614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4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취업 플랫폼</a:t>
            </a:r>
            <a:endParaRPr lang="ko-KR" altLang="en-US" sz="24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9362" y="5486882"/>
            <a:ext cx="96520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mtClean="0"/>
              <a:t>알바를 하고 싶은 사람과 채용하고 싶은 회사를 연결해주는 플랫폼 </a:t>
            </a:r>
            <a:r>
              <a:rPr lang="en-US" altLang="ko-KR" sz="2400" smtClean="0"/>
              <a:t>: </a:t>
            </a:r>
            <a:endParaRPr lang="en-US" altLang="ko-KR" sz="2400" smtClean="0"/>
          </a:p>
          <a:p>
            <a:r>
              <a:rPr lang="ko-KR" altLang="en-US" sz="2400" smtClean="0"/>
              <a:t>알바몬</a:t>
            </a:r>
            <a:r>
              <a:rPr lang="en-US" altLang="ko-KR" sz="2400" smtClean="0"/>
              <a:t>, </a:t>
            </a:r>
            <a:r>
              <a:rPr lang="ko-KR" altLang="en-US" sz="2400" smtClean="0"/>
              <a:t>알바천국</a:t>
            </a:r>
            <a:r>
              <a:rPr lang="en-US" altLang="ko-KR" sz="2400" smtClean="0"/>
              <a:t>, </a:t>
            </a:r>
            <a:r>
              <a:rPr lang="ko-KR" altLang="en-US" sz="2400" smtClean="0"/>
              <a:t>잡코리아 등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186193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900859" y="2006600"/>
            <a:ext cx="2693741" cy="2692400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1598398" y="1786466"/>
            <a:ext cx="9110134" cy="3437467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25813" y="1523517"/>
            <a:ext cx="182614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4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과외 플랫폼</a:t>
            </a:r>
            <a:endParaRPr lang="ko-KR" altLang="en-US" sz="24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31458" y="798308"/>
            <a:ext cx="7962497" cy="7315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31458" y="916212"/>
            <a:ext cx="8765918" cy="7031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itle 1">
            <a:extLst>
              <a:ext uri="{FF2B5EF4-FFF2-40B4-BE49-F238E27FC236}">
                <a16:creationId xmlns=""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0" y="34128"/>
            <a:ext cx="11753174" cy="707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54" rtl="0" eaLnBrk="1" latinLnBrk="0" hangingPunct="1">
              <a:spcBef>
                <a:spcPct val="0"/>
              </a:spcBef>
              <a:buNone/>
              <a:defRPr lang="en-US" sz="4000" b="1" kern="1200" cap="all" normalizeH="0" baseline="0">
                <a:solidFill>
                  <a:srgbClr val="2F3A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r>
              <a:rPr kumimoji="0" lang="ko-KR" altLang="en-US" sz="4000" b="1" i="0" u="none" strike="noStrike" kern="1200" cap="all" spc="0" normalizeH="0" baseline="0" noProof="0" smtClean="0">
                <a:ln>
                  <a:noFill/>
                </a:ln>
                <a:solidFill>
                  <a:srgbClr val="2F3A46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개요</a:t>
            </a:r>
            <a:endParaRPr kumimoji="0" lang="en-US" sz="4000" b="1" i="0" u="none" strike="noStrike" kern="1200" cap="all" spc="0" normalizeH="0" baseline="0" noProof="0" dirty="0">
              <a:ln>
                <a:noFill/>
              </a:ln>
              <a:solidFill>
                <a:srgbClr val="2F3A46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48049" y="3029634"/>
            <a:ext cx="14927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과외 학생을 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구하고 싶은 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선생님</a:t>
            </a:r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2129" y="3029633"/>
            <a:ext cx="16466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과외 선생님을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구하고 싶은 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학생</a:t>
            </a:r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567" y="3133615"/>
            <a:ext cx="2009775" cy="676275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827" y="3931972"/>
            <a:ext cx="1190625" cy="4191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240" y="2196121"/>
            <a:ext cx="2222428" cy="848255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452" y="3915038"/>
            <a:ext cx="1104900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5174" y="5457699"/>
            <a:ext cx="106843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mtClean="0"/>
              <a:t>과외를 하고 싶은 선생님과 과외를 구하고 싶은 학생을 연결해주는 플랫폼 </a:t>
            </a:r>
            <a:r>
              <a:rPr lang="en-US" altLang="ko-KR" sz="2400" smtClean="0"/>
              <a:t>: </a:t>
            </a:r>
            <a:endParaRPr lang="en-US" altLang="ko-KR" sz="2400" smtClean="0"/>
          </a:p>
          <a:p>
            <a:r>
              <a:rPr lang="ko-KR" altLang="en-US" sz="2400" smtClean="0"/>
              <a:t>상상코칭</a:t>
            </a:r>
            <a:r>
              <a:rPr lang="en-US" altLang="ko-KR" sz="2400" smtClean="0"/>
              <a:t>, </a:t>
            </a:r>
            <a:r>
              <a:rPr lang="ko-KR" altLang="en-US" sz="2400" smtClean="0"/>
              <a:t>과외코리아</a:t>
            </a:r>
            <a:r>
              <a:rPr lang="en-US" altLang="ko-KR" sz="2400" smtClean="0"/>
              <a:t>, </a:t>
            </a:r>
            <a:r>
              <a:rPr lang="ko-KR" altLang="en-US" sz="2400" smtClean="0"/>
              <a:t>김과외 등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05562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900859" y="2006600"/>
            <a:ext cx="2693741" cy="2692400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1598398" y="1786466"/>
            <a:ext cx="9110134" cy="3437467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25813" y="1523517"/>
            <a:ext cx="182614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4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물류 플랫폼</a:t>
            </a:r>
            <a:endParaRPr lang="ko-KR" altLang="en-US" sz="24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31458" y="798308"/>
            <a:ext cx="7962497" cy="7315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31458" y="916212"/>
            <a:ext cx="8765918" cy="7031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itle 1">
            <a:extLst>
              <a:ext uri="{FF2B5EF4-FFF2-40B4-BE49-F238E27FC236}">
                <a16:creationId xmlns=""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0" y="34128"/>
            <a:ext cx="11753174" cy="707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54" rtl="0" eaLnBrk="1" latinLnBrk="0" hangingPunct="1">
              <a:spcBef>
                <a:spcPct val="0"/>
              </a:spcBef>
              <a:buNone/>
              <a:defRPr lang="en-US" sz="4000" b="1" kern="1200" cap="all" normalizeH="0" baseline="0">
                <a:solidFill>
                  <a:srgbClr val="2F3A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r>
              <a:rPr kumimoji="0" lang="ko-KR" altLang="en-US" sz="4000" b="1" i="0" u="none" strike="noStrike" kern="1200" cap="all" spc="0" normalizeH="0" baseline="0" noProof="0" smtClean="0">
                <a:ln>
                  <a:noFill/>
                </a:ln>
                <a:solidFill>
                  <a:srgbClr val="2F3A46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개요</a:t>
            </a:r>
            <a:endParaRPr kumimoji="0" lang="en-US" sz="4000" b="1" i="0" u="none" strike="noStrike" kern="1200" cap="all" spc="0" normalizeH="0" baseline="0" noProof="0" dirty="0">
              <a:ln>
                <a:noFill/>
              </a:ln>
              <a:solidFill>
                <a:srgbClr val="2F3A46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48049" y="3029634"/>
            <a:ext cx="14927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고객사를  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구하고 싶은 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물류창고</a:t>
            </a:r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92824" y="3029633"/>
            <a:ext cx="21852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물류창고를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구하고 싶은 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개인사업자 및 기업</a:t>
            </a:r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54976" y="2629525"/>
            <a:ext cx="70403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800" smtClean="0"/>
              <a:t>?</a:t>
            </a:r>
            <a:endParaRPr lang="ko-KR" altLang="en-US" sz="8800"/>
          </a:p>
        </p:txBody>
      </p:sp>
    </p:spTree>
    <p:extLst>
      <p:ext uri="{BB962C8B-B14F-4D97-AF65-F5344CB8AC3E}">
        <p14:creationId xmlns:p14="http://schemas.microsoft.com/office/powerpoint/2010/main" val="22998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393124" y="4817533"/>
            <a:ext cx="10623421" cy="13377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31458" y="798308"/>
            <a:ext cx="7962497" cy="7315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31458" y="916212"/>
            <a:ext cx="8765918" cy="7031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itle 1">
            <a:extLst>
              <a:ext uri="{FF2B5EF4-FFF2-40B4-BE49-F238E27FC236}">
                <a16:creationId xmlns=""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0" y="34128"/>
            <a:ext cx="11753174" cy="707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54" rtl="0" eaLnBrk="1" latinLnBrk="0" hangingPunct="1">
              <a:spcBef>
                <a:spcPct val="0"/>
              </a:spcBef>
              <a:buNone/>
              <a:defRPr lang="en-US" sz="4000" b="1" kern="1200" cap="all" normalizeH="0" baseline="0">
                <a:solidFill>
                  <a:srgbClr val="2F3A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r>
              <a:rPr kumimoji="0" lang="ko-KR" altLang="en-US" sz="4000" b="1" i="0" u="none" strike="noStrike" kern="1200" cap="all" spc="0" normalizeH="0" baseline="0" noProof="0" smtClean="0">
                <a:ln>
                  <a:noFill/>
                </a:ln>
                <a:solidFill>
                  <a:srgbClr val="2F3A46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개요</a:t>
            </a:r>
            <a:endParaRPr kumimoji="0" lang="en-US" sz="4000" b="1" i="0" u="none" strike="noStrike" kern="1200" cap="all" spc="0" normalizeH="0" baseline="0" noProof="0" dirty="0">
              <a:ln>
                <a:noFill/>
              </a:ln>
              <a:solidFill>
                <a:srgbClr val="2F3A46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3124" y="4969935"/>
            <a:ext cx="106234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기존 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현재 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3PL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물류대행 관련 고객사를 모집하기 위해 블로그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유튜브 등 개별적으로 홍보를 해야 함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endParaRPr lang="en-US" altLang="ko-KR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개선 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물류센터를 찾는 고객사와 고객사를 찾는 물류창고를 서로 만날 수 있는 플랫폼을 개설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24" y="1357697"/>
            <a:ext cx="3781425" cy="2590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30123" y="1267064"/>
            <a:ext cx="53944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mtClean="0">
                <a:solidFill>
                  <a:srgbClr val="FF0000"/>
                </a:solidFill>
                <a:latin typeface="인천교육소통" panose="02000503000000000000" pitchFamily="2" charset="-127"/>
                <a:ea typeface="인천교육소통" panose="02000503000000000000" pitchFamily="2" charset="-127"/>
              </a:rPr>
              <a:t>물류대행 플랫폼을 찾다 찾다 못찾아서 든 생각</a:t>
            </a:r>
            <a:r>
              <a:rPr lang="en-US" altLang="ko-KR" sz="2800" smtClean="0">
                <a:solidFill>
                  <a:srgbClr val="FF0000"/>
                </a:solidFill>
                <a:latin typeface="인천교육소통" panose="02000503000000000000" pitchFamily="2" charset="-127"/>
                <a:ea typeface="인천교육소통" panose="02000503000000000000" pitchFamily="2" charset="-127"/>
              </a:rPr>
              <a:t>.. </a:t>
            </a:r>
          </a:p>
          <a:p>
            <a:r>
              <a:rPr lang="ko-KR" altLang="en-US" sz="2800" smtClean="0">
                <a:solidFill>
                  <a:srgbClr val="FF0000"/>
                </a:solidFill>
                <a:latin typeface="인천교육소통" panose="02000503000000000000" pitchFamily="2" charset="-127"/>
                <a:ea typeface="인천교육소통" panose="02000503000000000000" pitchFamily="2" charset="-127"/>
              </a:rPr>
              <a:t>우리가 만들면 안될까</a:t>
            </a:r>
            <a:r>
              <a:rPr lang="en-US" altLang="ko-KR" sz="2800" smtClean="0">
                <a:solidFill>
                  <a:srgbClr val="FF0000"/>
                </a:solidFill>
                <a:latin typeface="인천교육소통" panose="02000503000000000000" pitchFamily="2" charset="-127"/>
                <a:ea typeface="인천교육소통" panose="02000503000000000000" pitchFamily="2" charset="-127"/>
              </a:rPr>
              <a:t>?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604" y="2091724"/>
            <a:ext cx="38957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30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모서리가 둥근 직사각형 19"/>
          <p:cNvSpPr/>
          <p:nvPr/>
        </p:nvSpPr>
        <p:spPr>
          <a:xfrm>
            <a:off x="31458" y="798308"/>
            <a:ext cx="7962497" cy="7315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31458" y="916212"/>
            <a:ext cx="8765918" cy="7031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itle 1">
            <a:extLst>
              <a:ext uri="{FF2B5EF4-FFF2-40B4-BE49-F238E27FC236}">
                <a16:creationId xmlns=""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0" y="34128"/>
            <a:ext cx="11753174" cy="707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54" rtl="0" eaLnBrk="1" latinLnBrk="0" hangingPunct="1">
              <a:spcBef>
                <a:spcPct val="0"/>
              </a:spcBef>
              <a:buNone/>
              <a:defRPr lang="en-US" sz="4000" b="1" kern="1200" cap="all" normalizeH="0" baseline="0">
                <a:solidFill>
                  <a:srgbClr val="2F3A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r>
              <a:rPr kumimoji="0" lang="ko-KR" altLang="en-US" sz="4000" b="1" i="0" u="none" strike="noStrike" kern="1200" cap="all" spc="0" normalizeH="0" baseline="0" noProof="0" smtClean="0">
                <a:ln>
                  <a:noFill/>
                </a:ln>
                <a:solidFill>
                  <a:srgbClr val="2F3A46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경쟁 업체 </a:t>
            </a:r>
            <a:r>
              <a:rPr kumimoji="0" lang="en-US" altLang="ko-KR" sz="4000" b="1" i="0" u="none" strike="noStrike" kern="1200" cap="all" spc="0" normalizeH="0" baseline="0" noProof="0" smtClean="0">
                <a:ln>
                  <a:noFill/>
                </a:ln>
                <a:solidFill>
                  <a:srgbClr val="2F3A46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</a:rPr>
              <a:t>1 –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 카카오  라스</a:t>
            </a:r>
            <a:r>
              <a:rPr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(https://kakaoilaas.com</a:t>
            </a:r>
            <a:r>
              <a:rPr lang="en-US" altLang="ko-KR" sz="14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/)</a:t>
            </a:r>
            <a:endParaRPr kumimoji="0" lang="en-US" sz="4000" b="1" i="0" u="none" strike="noStrike" kern="1200" cap="all" spc="0" normalizeH="0" baseline="0" noProof="0" dirty="0">
              <a:ln>
                <a:noFill/>
              </a:ln>
              <a:solidFill>
                <a:srgbClr val="2F3A46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25" y="4064000"/>
            <a:ext cx="7072075" cy="277949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865349" y="59672"/>
            <a:ext cx="32412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4400"/>
              <a:t>i</a:t>
            </a:r>
            <a:endParaRPr lang="ko-KR" altLang="en-US" sz="4400"/>
          </a:p>
        </p:txBody>
      </p:sp>
      <p:sp>
        <p:nvSpPr>
          <p:cNvPr id="10" name="TextBox 9"/>
          <p:cNvSpPr txBox="1"/>
          <p:nvPr/>
        </p:nvSpPr>
        <p:spPr>
          <a:xfrm>
            <a:off x="373094" y="1326681"/>
            <a:ext cx="506100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장점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물류대행사를 지역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특징 별로 모아놓음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창고를 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VR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로 촬영하여 내부를 알 수 있도록함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연락처가 없이 견적으로만 연결이 가능함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인터페이스가 깔끔함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36170" y="1326681"/>
            <a:ext cx="591700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단점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대형 창고 위주의 구성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en-US" altLang="ko-KR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물류 대행사의 입점이 까다로움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   (2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달 이상이 걸림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카카오에서 관리가 안되는 듯한 이미지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담당자 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1~2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명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계약 </a:t>
            </a:r>
            <a:r>
              <a: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rPr>
              <a:t>시 카카오에서 제공하는 프로그램 사용 필수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홍보가 안되 찾을 수가 없다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자체 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ERP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를 사용해야한다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•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 매달 </a:t>
            </a:r>
            <a:r>
              <a: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rPr>
              <a:t>수수료가 발생되는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구조</a:t>
            </a:r>
            <a:endParaRPr lang="en-US" altLang="ko-KR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562600" y="1326681"/>
            <a:ext cx="0" cy="21531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6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473" y="87086"/>
            <a:ext cx="8911611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0"/>
            <a:ext cx="15376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mtClean="0">
                <a:solidFill>
                  <a:srgbClr val="FF0000"/>
                </a:solidFill>
              </a:rPr>
              <a:t>카카오</a:t>
            </a:r>
            <a:r>
              <a:rPr lang="en-US" altLang="ko-KR" sz="2000" b="1" smtClean="0">
                <a:solidFill>
                  <a:srgbClr val="FF0000"/>
                </a:solidFill>
              </a:rPr>
              <a:t>i</a:t>
            </a:r>
            <a:r>
              <a:rPr lang="ko-KR" altLang="en-US" sz="2000" b="1" smtClean="0">
                <a:solidFill>
                  <a:srgbClr val="FF0000"/>
                </a:solidFill>
              </a:rPr>
              <a:t>라스</a:t>
            </a:r>
            <a:endParaRPr lang="en-US" altLang="ko-KR" sz="2000" b="1" smtClean="0">
              <a:solidFill>
                <a:srgbClr val="FF0000"/>
              </a:solidFill>
            </a:endParaRPr>
          </a:p>
          <a:p>
            <a:r>
              <a:rPr lang="ko-KR" altLang="en-US" sz="2000" b="1" smtClean="0">
                <a:solidFill>
                  <a:srgbClr val="FF0000"/>
                </a:solidFill>
              </a:rPr>
              <a:t>참고 화면</a:t>
            </a:r>
            <a:endParaRPr lang="en-US" altLang="ko-KR" sz="2000" b="1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01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모서리가 둥근 직사각형 19"/>
          <p:cNvSpPr/>
          <p:nvPr/>
        </p:nvSpPr>
        <p:spPr>
          <a:xfrm>
            <a:off x="31458" y="798308"/>
            <a:ext cx="7962497" cy="7315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31458" y="916212"/>
            <a:ext cx="8765918" cy="7031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itle 1">
            <a:extLst>
              <a:ext uri="{FF2B5EF4-FFF2-40B4-BE49-F238E27FC236}">
                <a16:creationId xmlns=""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0" y="34128"/>
            <a:ext cx="11753174" cy="707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54" rtl="0" eaLnBrk="1" latinLnBrk="0" hangingPunct="1">
              <a:spcBef>
                <a:spcPct val="0"/>
              </a:spcBef>
              <a:buNone/>
              <a:defRPr lang="en-US" sz="4000" b="1" kern="1200" cap="all" normalizeH="0" baseline="0">
                <a:solidFill>
                  <a:srgbClr val="2F3A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경쟁 업체 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2 –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셀 러 오 션</a:t>
            </a:r>
            <a:r>
              <a:rPr lang="en-US" altLang="ko-KR" sz="1400">
                <a:latin typeface="HY헤드라인M" panose="02030600000101010101" pitchFamily="18" charset="-127"/>
                <a:ea typeface="HY헤드라인M" panose="02030600000101010101" pitchFamily="18" charset="-127"/>
              </a:rPr>
              <a:t>(https://sellerocean.com</a:t>
            </a:r>
            <a:r>
              <a:rPr lang="en-US" altLang="ko-KR" sz="14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/)</a:t>
            </a:r>
            <a:endParaRPr kumimoji="0" lang="en-US" sz="4000" b="1" i="0" u="none" strike="noStrike" kern="1200" cap="all" spc="0" normalizeH="0" baseline="0" noProof="0" dirty="0">
              <a:ln>
                <a:noFill/>
              </a:ln>
              <a:solidFill>
                <a:srgbClr val="2F3A46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725" y="1326681"/>
            <a:ext cx="53206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장점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접근성이 낮음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회원 가입 후 바로 글 게시 가능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다양한 세부 카테고리로 여러 유형의 유입 가능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16463" y="1326681"/>
            <a:ext cx="416652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단점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산만한 인터페이스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무분별하게 게시가 가능해 도배 수준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물류대행에 대한 메뉴가 없어 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  비슷한 게시판에 글 작성하는 수준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rcRect b="21251"/>
          <a:stretch/>
        </p:blipFill>
        <p:spPr>
          <a:xfrm>
            <a:off x="1947368" y="2867162"/>
            <a:ext cx="7538190" cy="3838438"/>
          </a:xfrm>
          <a:prstGeom prst="rect">
            <a:avLst/>
          </a:prstGeom>
        </p:spPr>
      </p:pic>
      <p:cxnSp>
        <p:nvCxnSpPr>
          <p:cNvPr id="17" name="직선 연결선 16"/>
          <p:cNvCxnSpPr/>
          <p:nvPr/>
        </p:nvCxnSpPr>
        <p:spPr>
          <a:xfrm>
            <a:off x="5562600" y="1326681"/>
            <a:ext cx="0" cy="14773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298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모서리가 둥근 직사각형 19"/>
          <p:cNvSpPr/>
          <p:nvPr/>
        </p:nvSpPr>
        <p:spPr>
          <a:xfrm>
            <a:off x="31458" y="798308"/>
            <a:ext cx="7962497" cy="7315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31458" y="916212"/>
            <a:ext cx="8765918" cy="7031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itle 1">
            <a:extLst>
              <a:ext uri="{FF2B5EF4-FFF2-40B4-BE49-F238E27FC236}">
                <a16:creationId xmlns=""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0" y="34127"/>
            <a:ext cx="11753174" cy="707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54" rtl="0" eaLnBrk="1" latinLnBrk="0" hangingPunct="1">
              <a:spcBef>
                <a:spcPct val="0"/>
              </a:spcBef>
              <a:buNone/>
              <a:defRPr lang="en-US" sz="4000" b="1" kern="1200" cap="all" normalizeH="0" baseline="0">
                <a:solidFill>
                  <a:srgbClr val="2F3A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단점 및 보완점</a:t>
            </a:r>
            <a:r>
              <a:rPr lang="en-US" altLang="ko-KR" sz="2000" smtClean="0">
                <a:solidFill>
                  <a:srgbClr val="FF0000"/>
                </a:solidFill>
                <a:latin typeface="인천교육소통" panose="02000503000000000000" pitchFamily="2" charset="-127"/>
                <a:ea typeface="인천교육소통" panose="02000503000000000000" pitchFamily="2" charset="-127"/>
              </a:rPr>
              <a:t> (</a:t>
            </a:r>
            <a:r>
              <a:rPr lang="ko-KR" altLang="en-US" sz="2000" smtClean="0">
                <a:solidFill>
                  <a:srgbClr val="FF0000"/>
                </a:solidFill>
                <a:latin typeface="인천교육소통" panose="02000503000000000000" pitchFamily="2" charset="-127"/>
                <a:ea typeface="인천교육소통" panose="02000503000000000000" pitchFamily="2" charset="-127"/>
              </a:rPr>
              <a:t>장점은 살리고 단점은 보완 하자</a:t>
            </a:r>
            <a:r>
              <a:rPr lang="en-US" altLang="ko-KR" sz="2000">
                <a:solidFill>
                  <a:srgbClr val="FF0000"/>
                </a:solidFill>
                <a:latin typeface="인천교육소통" panose="02000503000000000000" pitchFamily="2" charset="-127"/>
                <a:ea typeface="인천교육소통" panose="02000503000000000000" pitchFamily="2" charset="-127"/>
              </a:rPr>
              <a:t>!</a:t>
            </a:r>
            <a:r>
              <a:rPr lang="en-US" altLang="ko-KR" sz="2000" smtClean="0">
                <a:solidFill>
                  <a:srgbClr val="FF0000"/>
                </a:solidFill>
                <a:latin typeface="인천교육소통" panose="02000503000000000000" pitchFamily="2" charset="-127"/>
                <a:ea typeface="인천교육소통" panose="02000503000000000000" pitchFamily="2" charset="-127"/>
              </a:rPr>
              <a:t>)</a:t>
            </a: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srgbClr val="2F3A46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7647" y="1336121"/>
            <a:ext cx="3656770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기존 업체들의 단점</a:t>
            </a:r>
            <a:endParaRPr lang="en-US" altLang="ko-KR" sz="2800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endParaRPr lang="en-US" altLang="ko-KR" sz="1200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회원가입이 어렵다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대형 창고 위주의 구성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AutoNum type="arabicPeriod"/>
            </a:pP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산만한 인터페이스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입점 심사 기간이 오래 걸린다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솔루션 프로그램의 필수 사용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매달 수수료 발생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58005" y="1345394"/>
            <a:ext cx="5397631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보완점</a:t>
            </a:r>
            <a:endParaRPr lang="en-US" altLang="ko-KR" sz="2800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endParaRPr lang="en-US" altLang="ko-KR" sz="1200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빠른 회원가입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.(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네이버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or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구글 아이디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42900" indent="-342900">
              <a:buAutoNum type="arabicPeriod"/>
            </a:pP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창고 규모 제한 없음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</a:p>
          <a:p>
            <a:pPr marL="342900" indent="-342900">
              <a:buAutoNum type="arabicPeriod"/>
            </a:pP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심플한 인터페이스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단순한 메뉴 구성</a:t>
            </a: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AutoNum type="arabicPeriod"/>
            </a:pP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가입 후 바로 등록 가능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창고 업체의 방식에 따름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mtClean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화주와 고객사의 매개체일뿐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추가 수수료 없음</a:t>
            </a:r>
            <a:r>
              <a:rPr lang="en-US" altLang="ko-KR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</p:txBody>
      </p:sp>
      <p:sp>
        <p:nvSpPr>
          <p:cNvPr id="2" name="오른쪽 화살표 1"/>
          <p:cNvSpPr/>
          <p:nvPr/>
        </p:nvSpPr>
        <p:spPr>
          <a:xfrm>
            <a:off x="4667111" y="2853267"/>
            <a:ext cx="838200" cy="12615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941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모서리가 둥근 직사각형 19"/>
          <p:cNvSpPr/>
          <p:nvPr/>
        </p:nvSpPr>
        <p:spPr>
          <a:xfrm>
            <a:off x="31458" y="798308"/>
            <a:ext cx="7962497" cy="7315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31458" y="916212"/>
            <a:ext cx="8765918" cy="7031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itle 1">
            <a:extLst>
              <a:ext uri="{FF2B5EF4-FFF2-40B4-BE49-F238E27FC236}">
                <a16:creationId xmlns=""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0" y="34127"/>
            <a:ext cx="11753174" cy="707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54" rtl="0" eaLnBrk="1" latinLnBrk="0" hangingPunct="1">
              <a:spcBef>
                <a:spcPct val="0"/>
              </a:spcBef>
              <a:buNone/>
              <a:defRPr lang="en-US" sz="4000" b="1" kern="1200" cap="all" normalizeH="0" baseline="0">
                <a:solidFill>
                  <a:srgbClr val="2F3A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사이트 레이아웃</a:t>
            </a: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srgbClr val="2F3A46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540935" y="1058333"/>
            <a:ext cx="7560732" cy="57996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2984992" y="1744132"/>
            <a:ext cx="995782" cy="279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923528" y="1168932"/>
            <a:ext cx="2112658" cy="5116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6421433" y="1160728"/>
            <a:ext cx="1677468" cy="511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348550" y="2102328"/>
            <a:ext cx="1867851" cy="700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4165601" y="1744132"/>
            <a:ext cx="995782" cy="279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5346210" y="1744132"/>
            <a:ext cx="995782" cy="279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6526819" y="1744132"/>
            <a:ext cx="995782" cy="279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4387375" y="2102328"/>
            <a:ext cx="1867851" cy="700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6429482" y="2102328"/>
            <a:ext cx="1867851" cy="700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384982" y="125135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메인 배너</a:t>
            </a:r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6607871" y="1243146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배너 광고</a:t>
            </a:r>
            <a:r>
              <a:rPr lang="en-US" altLang="ko-KR" smtClean="0"/>
              <a:t>2</a:t>
            </a: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052773" y="1749392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mtClean="0"/>
              <a:t>창고 찾기</a:t>
            </a:r>
            <a:endParaRPr lang="ko-KR" altLang="en-US" sz="1200"/>
          </a:p>
        </p:txBody>
      </p:sp>
      <p:sp>
        <p:nvSpPr>
          <p:cNvPr id="32" name="TextBox 31"/>
          <p:cNvSpPr txBox="1"/>
          <p:nvPr/>
        </p:nvSpPr>
        <p:spPr>
          <a:xfrm>
            <a:off x="4167067" y="1740926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mtClean="0"/>
              <a:t>고객사 찾기</a:t>
            </a:r>
            <a:endParaRPr lang="ko-KR" altLang="en-US" sz="1200"/>
          </a:p>
        </p:txBody>
      </p:sp>
      <p:sp>
        <p:nvSpPr>
          <p:cNvPr id="33" name="TextBox 32"/>
          <p:cNvSpPr txBox="1"/>
          <p:nvPr/>
        </p:nvSpPr>
        <p:spPr>
          <a:xfrm>
            <a:off x="5417588" y="1740926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mtClean="0"/>
              <a:t>창고 등록</a:t>
            </a:r>
            <a:endParaRPr lang="ko-KR" altLang="en-US" sz="1200"/>
          </a:p>
        </p:txBody>
      </p:sp>
      <p:sp>
        <p:nvSpPr>
          <p:cNvPr id="34" name="TextBox 33"/>
          <p:cNvSpPr txBox="1"/>
          <p:nvPr/>
        </p:nvSpPr>
        <p:spPr>
          <a:xfrm>
            <a:off x="6512682" y="1740926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mtClean="0"/>
              <a:t>고객사 등록</a:t>
            </a:r>
            <a:endParaRPr lang="ko-KR" altLang="en-US" sz="1200"/>
          </a:p>
        </p:txBody>
      </p:sp>
      <p:sp>
        <p:nvSpPr>
          <p:cNvPr id="35" name="TextBox 34"/>
          <p:cNvSpPr txBox="1"/>
          <p:nvPr/>
        </p:nvSpPr>
        <p:spPr>
          <a:xfrm>
            <a:off x="2674092" y="2087926"/>
            <a:ext cx="12715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smtClean="0"/>
              <a:t>지역별 창고 찾기</a:t>
            </a:r>
            <a:endParaRPr lang="ko-KR" altLang="en-US" sz="1050"/>
          </a:p>
        </p:txBody>
      </p:sp>
      <p:sp>
        <p:nvSpPr>
          <p:cNvPr id="36" name="TextBox 35"/>
          <p:cNvSpPr txBox="1"/>
          <p:nvPr/>
        </p:nvSpPr>
        <p:spPr>
          <a:xfrm>
            <a:off x="4638135" y="2087926"/>
            <a:ext cx="13580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smtClean="0"/>
              <a:t>지역별 고객사 찾기</a:t>
            </a:r>
            <a:endParaRPr lang="ko-KR" altLang="en-US" sz="1050"/>
          </a:p>
        </p:txBody>
      </p:sp>
      <p:sp>
        <p:nvSpPr>
          <p:cNvPr id="38" name="TextBox 37"/>
          <p:cNvSpPr txBox="1"/>
          <p:nvPr/>
        </p:nvSpPr>
        <p:spPr>
          <a:xfrm>
            <a:off x="2432725" y="2315047"/>
            <a:ext cx="177003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mtClean="0"/>
              <a:t>서울 인천 경기 강원 세종 대전</a:t>
            </a:r>
            <a:endParaRPr lang="en-US" altLang="ko-KR" sz="900" smtClean="0"/>
          </a:p>
          <a:p>
            <a:r>
              <a:rPr lang="ko-KR" altLang="en-US" sz="900" smtClean="0"/>
              <a:t>충남 충북 광주 전남 전북 대구</a:t>
            </a:r>
            <a:endParaRPr lang="en-US" altLang="ko-KR" sz="900" smtClean="0"/>
          </a:p>
          <a:p>
            <a:r>
              <a:rPr lang="ko-KR" altLang="en-US" sz="900" smtClean="0"/>
              <a:t>경북 부산 울산 경남 제주</a:t>
            </a:r>
            <a:endParaRPr lang="ko-KR" altLang="en-US" sz="900"/>
          </a:p>
        </p:txBody>
      </p:sp>
      <p:sp>
        <p:nvSpPr>
          <p:cNvPr id="39" name="TextBox 38"/>
          <p:cNvSpPr txBox="1"/>
          <p:nvPr/>
        </p:nvSpPr>
        <p:spPr>
          <a:xfrm>
            <a:off x="4444128" y="2315047"/>
            <a:ext cx="177003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mtClean="0"/>
              <a:t>서울 인천 경기 강원 세종 대전</a:t>
            </a:r>
            <a:endParaRPr lang="en-US" altLang="ko-KR" sz="900" smtClean="0"/>
          </a:p>
          <a:p>
            <a:r>
              <a:rPr lang="ko-KR" altLang="en-US" sz="900" smtClean="0"/>
              <a:t>충남 충북 광주 전남 전북 대구</a:t>
            </a:r>
            <a:endParaRPr lang="en-US" altLang="ko-KR" sz="900" smtClean="0"/>
          </a:p>
          <a:p>
            <a:r>
              <a:rPr lang="ko-KR" altLang="en-US" sz="900" smtClean="0"/>
              <a:t>경북 부산 울산 경남 제주</a:t>
            </a:r>
            <a:endParaRPr lang="ko-KR" altLang="en-US" sz="900"/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585" y="2169786"/>
            <a:ext cx="1673148" cy="573849"/>
          </a:xfrm>
          <a:prstGeom prst="rect">
            <a:avLst/>
          </a:prstGeom>
        </p:spPr>
      </p:pic>
      <p:sp>
        <p:nvSpPr>
          <p:cNvPr id="42" name="직사각형 41"/>
          <p:cNvSpPr/>
          <p:nvPr/>
        </p:nvSpPr>
        <p:spPr>
          <a:xfrm>
            <a:off x="2348551" y="2907416"/>
            <a:ext cx="1817050" cy="11311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4387375" y="2907416"/>
            <a:ext cx="1817050" cy="11311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6421220" y="2907416"/>
            <a:ext cx="1817050" cy="11311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2502366" y="3149329"/>
            <a:ext cx="1547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mtClean="0"/>
              <a:t>스페셜 광고</a:t>
            </a:r>
            <a:r>
              <a:rPr lang="en-US" altLang="ko-KR" smtClean="0"/>
              <a:t>1</a:t>
            </a:r>
          </a:p>
          <a:p>
            <a:pPr algn="ctr"/>
            <a:r>
              <a:rPr lang="en-US" altLang="ko-KR" smtClean="0"/>
              <a:t>(</a:t>
            </a:r>
            <a:r>
              <a:rPr lang="ko-KR" altLang="en-US" smtClean="0"/>
              <a:t>창고업체</a:t>
            </a:r>
            <a:r>
              <a:rPr lang="en-US" altLang="ko-KR" smtClean="0"/>
              <a:t>)</a:t>
            </a:r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4521669" y="3149329"/>
            <a:ext cx="1547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mtClean="0"/>
              <a:t>스페셜 광고</a:t>
            </a:r>
            <a:r>
              <a:rPr lang="en-US" altLang="ko-KR" smtClean="0"/>
              <a:t>2</a:t>
            </a:r>
          </a:p>
          <a:p>
            <a:pPr algn="ctr"/>
            <a:r>
              <a:rPr lang="en-US" altLang="ko-KR"/>
              <a:t>(</a:t>
            </a:r>
            <a:r>
              <a:rPr lang="ko-KR" altLang="en-US"/>
              <a:t>창고업체</a:t>
            </a:r>
            <a:r>
              <a:rPr lang="en-US" altLang="ko-KR" smtClean="0"/>
              <a:t>)</a:t>
            </a:r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6551682" y="3149329"/>
            <a:ext cx="1547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mtClean="0"/>
              <a:t>스페셜 광고</a:t>
            </a:r>
            <a:r>
              <a:rPr lang="en-US" altLang="ko-KR" smtClean="0"/>
              <a:t>3</a:t>
            </a:r>
          </a:p>
          <a:p>
            <a:pPr algn="ctr"/>
            <a:r>
              <a:rPr lang="en-US" altLang="ko-KR"/>
              <a:t>(</a:t>
            </a:r>
            <a:r>
              <a:rPr lang="ko-KR" altLang="en-US"/>
              <a:t>창고업체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2348550" y="4130914"/>
            <a:ext cx="5889719" cy="11311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2310284" y="4160794"/>
            <a:ext cx="3340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일반 창고 리스트</a:t>
            </a:r>
            <a:r>
              <a:rPr lang="en-US" altLang="ko-KR" smtClean="0"/>
              <a:t>(</a:t>
            </a:r>
            <a:r>
              <a:rPr lang="ko-KR" altLang="en-US" smtClean="0"/>
              <a:t>최신순 정렬</a:t>
            </a:r>
            <a:r>
              <a:rPr lang="en-US" altLang="ko-KR" smtClean="0"/>
              <a:t>)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2348550" y="5387690"/>
            <a:ext cx="5889719" cy="11311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2348550" y="5427030"/>
            <a:ext cx="3571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일반 고객사 리스트</a:t>
            </a:r>
            <a:r>
              <a:rPr lang="en-US" altLang="ko-KR" smtClean="0"/>
              <a:t>(</a:t>
            </a:r>
            <a:r>
              <a:rPr lang="ko-KR" altLang="en-US" smtClean="0"/>
              <a:t>최신순 정렬</a:t>
            </a:r>
            <a:r>
              <a:rPr lang="en-US" altLang="ko-KR" smtClean="0"/>
              <a:t>)</a:t>
            </a:r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1860813" y="1160728"/>
            <a:ext cx="1677468" cy="511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2047251" y="1243146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배너 광고</a:t>
            </a:r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326893" y="4505533"/>
            <a:ext cx="3847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업체명 </a:t>
            </a:r>
            <a:r>
              <a:rPr lang="en-US" altLang="ko-KR" sz="1400" smtClean="0"/>
              <a:t>/    </a:t>
            </a:r>
            <a:r>
              <a:rPr lang="ko-KR" altLang="en-US" sz="1400" smtClean="0"/>
              <a:t>지역    </a:t>
            </a:r>
            <a:r>
              <a:rPr lang="en-US" altLang="ko-KR" sz="1400" smtClean="0"/>
              <a:t>/ </a:t>
            </a:r>
            <a:r>
              <a:rPr lang="ko-KR" altLang="en-US" sz="1400" smtClean="0"/>
              <a:t>적재 가능 면적 </a:t>
            </a:r>
            <a:r>
              <a:rPr lang="en-US" altLang="ko-KR" sz="1400" smtClean="0"/>
              <a:t>/ </a:t>
            </a:r>
            <a:r>
              <a:rPr lang="ko-KR" altLang="en-US" sz="1400" smtClean="0"/>
              <a:t>총 면적</a:t>
            </a:r>
            <a:endParaRPr lang="ko-KR" altLang="en-US" sz="1400"/>
          </a:p>
        </p:txBody>
      </p:sp>
      <p:sp>
        <p:nvSpPr>
          <p:cNvPr id="53" name="TextBox 52"/>
          <p:cNvSpPr txBox="1"/>
          <p:nvPr/>
        </p:nvSpPr>
        <p:spPr>
          <a:xfrm>
            <a:off x="2358374" y="5749153"/>
            <a:ext cx="4043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업체명 </a:t>
            </a:r>
            <a:r>
              <a:rPr lang="en-US" altLang="ko-KR" sz="1400" smtClean="0"/>
              <a:t>/    </a:t>
            </a:r>
            <a:r>
              <a:rPr lang="ko-KR" altLang="en-US" sz="1400" smtClean="0"/>
              <a:t>지역    </a:t>
            </a:r>
            <a:r>
              <a:rPr lang="en-US" altLang="ko-KR" sz="1400" smtClean="0"/>
              <a:t>/    </a:t>
            </a:r>
            <a:r>
              <a:rPr lang="ko-KR" altLang="en-US" sz="1400" smtClean="0"/>
              <a:t>필요 면적   </a:t>
            </a:r>
            <a:r>
              <a:rPr lang="en-US" altLang="ko-KR" sz="1400" smtClean="0"/>
              <a:t>/   </a:t>
            </a:r>
            <a:r>
              <a:rPr lang="ko-KR" altLang="en-US" sz="1400" smtClean="0"/>
              <a:t>상품 유형</a:t>
            </a:r>
            <a:endParaRPr lang="ko-KR" altLang="en-US" sz="1400"/>
          </a:p>
        </p:txBody>
      </p:sp>
      <p:sp>
        <p:nvSpPr>
          <p:cNvPr id="54" name="TextBox 53"/>
          <p:cNvSpPr txBox="1"/>
          <p:nvPr/>
        </p:nvSpPr>
        <p:spPr>
          <a:xfrm>
            <a:off x="2348550" y="4759992"/>
            <a:ext cx="3853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/>
              <a:t>B</a:t>
            </a:r>
            <a:r>
              <a:rPr lang="ko-KR" altLang="en-US" sz="1400" smtClean="0"/>
              <a:t>ㅇㅇ </a:t>
            </a:r>
            <a:r>
              <a:rPr lang="en-US" altLang="ko-KR" sz="1400" smtClean="0"/>
              <a:t>  </a:t>
            </a:r>
            <a:r>
              <a:rPr lang="ko-KR" altLang="en-US" sz="1400" smtClean="0"/>
              <a:t>경기 고양         </a:t>
            </a:r>
            <a:r>
              <a:rPr lang="en-US" altLang="ko-KR" sz="1400" smtClean="0"/>
              <a:t>36</a:t>
            </a:r>
            <a:r>
              <a:rPr lang="ko-KR" altLang="en-US" sz="1400" smtClean="0"/>
              <a:t>평          </a:t>
            </a:r>
            <a:r>
              <a:rPr lang="en-US" altLang="ko-KR" sz="1400" smtClean="0"/>
              <a:t>1,000</a:t>
            </a:r>
            <a:r>
              <a:rPr lang="ko-KR" altLang="en-US" sz="1400" smtClean="0"/>
              <a:t>평</a:t>
            </a:r>
            <a:endParaRPr lang="en-US" altLang="ko-KR" sz="1400" smtClean="0"/>
          </a:p>
          <a:p>
            <a:r>
              <a:rPr lang="en-US" altLang="ko-KR" sz="1400" smtClean="0"/>
              <a:t>Q</a:t>
            </a:r>
            <a:r>
              <a:rPr lang="ko-KR" altLang="en-US" sz="1400" smtClean="0"/>
              <a:t>ㅇㅇ   서울 송파         </a:t>
            </a:r>
            <a:r>
              <a:rPr lang="en-US" altLang="ko-KR" sz="1400" smtClean="0"/>
              <a:t>50</a:t>
            </a:r>
            <a:r>
              <a:rPr lang="ko-KR" altLang="en-US" sz="1400" smtClean="0"/>
              <a:t>평            </a:t>
            </a:r>
            <a:r>
              <a:rPr lang="en-US" altLang="ko-KR" sz="1400" smtClean="0"/>
              <a:t>500</a:t>
            </a:r>
            <a:r>
              <a:rPr lang="ko-KR" altLang="en-US" sz="1400" smtClean="0"/>
              <a:t>평</a:t>
            </a:r>
            <a:endParaRPr lang="ko-KR" altLang="en-US" sz="1400"/>
          </a:p>
        </p:txBody>
      </p:sp>
      <p:sp>
        <p:nvSpPr>
          <p:cNvPr id="55" name="TextBox 54"/>
          <p:cNvSpPr txBox="1"/>
          <p:nvPr/>
        </p:nvSpPr>
        <p:spPr>
          <a:xfrm>
            <a:off x="2348550" y="5974859"/>
            <a:ext cx="36647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/>
              <a:t>A</a:t>
            </a:r>
            <a:r>
              <a:rPr lang="ko-KR" altLang="en-US" sz="1400" smtClean="0"/>
              <a:t>ㅇㅇ </a:t>
            </a:r>
            <a:r>
              <a:rPr lang="en-US" altLang="ko-KR" sz="1400" smtClean="0"/>
              <a:t>  </a:t>
            </a:r>
            <a:r>
              <a:rPr lang="ko-KR" altLang="en-US" sz="1400" smtClean="0"/>
              <a:t>서울 금천구       </a:t>
            </a:r>
            <a:r>
              <a:rPr lang="en-US" altLang="ko-KR" sz="1400" smtClean="0"/>
              <a:t>30</a:t>
            </a:r>
            <a:r>
              <a:rPr lang="ko-KR" altLang="en-US" sz="1400" smtClean="0"/>
              <a:t>평        공산품</a:t>
            </a:r>
            <a:endParaRPr lang="en-US" altLang="ko-KR" sz="1400" smtClean="0"/>
          </a:p>
          <a:p>
            <a:r>
              <a:rPr lang="en-US" altLang="ko-KR" sz="1400" smtClean="0"/>
              <a:t>B</a:t>
            </a:r>
            <a:r>
              <a:rPr lang="ko-KR" altLang="en-US" sz="1400" smtClean="0"/>
              <a:t>ㅇㅇ   경기 파주         </a:t>
            </a:r>
            <a:r>
              <a:rPr lang="en-US" altLang="ko-KR" sz="1400" smtClean="0"/>
              <a:t>50</a:t>
            </a:r>
            <a:r>
              <a:rPr lang="ko-KR" altLang="en-US" sz="1400" smtClean="0"/>
              <a:t>평           식품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714119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337" y="0"/>
            <a:ext cx="7303325" cy="6858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449" y="1176866"/>
            <a:ext cx="582083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97714" y="1176866"/>
            <a:ext cx="1261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창고 찾기</a:t>
            </a:r>
            <a:endParaRPr lang="ko-KR" altLang="en-US" sz="12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249" y="1168115"/>
            <a:ext cx="582083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08447" y="1193800"/>
            <a:ext cx="126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고객사 찾기</a:t>
            </a:r>
            <a:endParaRPr lang="ko-KR" altLang="en-US" sz="105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533" y="1176866"/>
            <a:ext cx="1017263" cy="295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64716" y="1176866"/>
            <a:ext cx="1261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창고 등록</a:t>
            </a:r>
            <a:endParaRPr lang="ko-KR" altLang="en-US" sz="12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133" y="1172102"/>
            <a:ext cx="685799" cy="2952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90446" y="1176866"/>
            <a:ext cx="1261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고객사 등록</a:t>
            </a:r>
            <a:endParaRPr lang="ko-KR" altLang="en-US" sz="12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6442" y="1193800"/>
            <a:ext cx="257175" cy="29527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489" y="1589087"/>
            <a:ext cx="1069978" cy="2608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85933" y="1579869"/>
            <a:ext cx="12650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지역별 창고 정보</a:t>
            </a:r>
            <a:endParaRPr lang="ko-KR" altLang="en-US" sz="105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5483" y="1589087"/>
            <a:ext cx="1069978" cy="2608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88796" y="1579869"/>
            <a:ext cx="13516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지역별 고객사 정보</a:t>
            </a:r>
            <a:endParaRPr lang="ko-KR" altLang="en-US" sz="105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99" y="2683403"/>
            <a:ext cx="2446867" cy="2381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514600" y="2667612"/>
            <a:ext cx="10374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smtClean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프리미엄 창고</a:t>
            </a:r>
            <a:endParaRPr lang="ko-KR" altLang="en-US" sz="105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0467" y="2690000"/>
            <a:ext cx="923734" cy="228960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2573044" y="321289"/>
            <a:ext cx="1718734" cy="788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537932" y="321289"/>
            <a:ext cx="1380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mtClean="0">
                <a:solidFill>
                  <a:srgbClr val="FF0000"/>
                </a:solidFill>
                <a:latin typeface="나눔고딕OTF 에코 ExtraBold" panose="020D0904000000000000" pitchFamily="34" charset="-127"/>
                <a:ea typeface="나눔고딕OTF 에코 ExtraBold" panose="020D0904000000000000" pitchFamily="34" charset="-127"/>
              </a:rPr>
              <a:t>창고</a:t>
            </a:r>
            <a:endParaRPr lang="en-US" altLang="ko-KR" sz="2400" smtClean="0">
              <a:solidFill>
                <a:srgbClr val="FF0000"/>
              </a:solidFill>
              <a:latin typeface="나눔고딕OTF 에코 ExtraBold" panose="020D0904000000000000" pitchFamily="34" charset="-127"/>
              <a:ea typeface="나눔고딕OTF 에코 ExtraBold" panose="020D0904000000000000" pitchFamily="34" charset="-127"/>
            </a:endParaRPr>
          </a:p>
          <a:p>
            <a:r>
              <a:rPr lang="ko-KR" altLang="en-US" sz="2400" smtClean="0">
                <a:latin typeface="나눔고딕OTF 에코 ExtraBold" panose="020D0904000000000000" pitchFamily="34" charset="-127"/>
                <a:ea typeface="나눔고딕OTF 에코 ExtraBold" panose="020D0904000000000000" pitchFamily="34" charset="-127"/>
              </a:rPr>
              <a:t>찾기</a:t>
            </a:r>
            <a:endParaRPr lang="ko-KR" altLang="en-US" sz="2400">
              <a:latin typeface="나눔고딕OTF 에코 ExtraBold" panose="020D0904000000000000" pitchFamily="34" charset="-127"/>
              <a:ea typeface="나눔고딕OTF 에코 ExtraBold" panose="020D0904000000000000" pitchFamily="34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72813" y="420954"/>
            <a:ext cx="113043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smtClean="0">
                <a:solidFill>
                  <a:schemeClr val="accent1">
                    <a:lumMod val="50000"/>
                  </a:schemeClr>
                </a:solidFill>
              </a:rPr>
              <a:t>3PL </a:t>
            </a:r>
            <a:r>
              <a:rPr lang="ko-KR" altLang="en-US" sz="1100" smtClean="0">
                <a:solidFill>
                  <a:schemeClr val="accent1">
                    <a:lumMod val="50000"/>
                  </a:schemeClr>
                </a:solidFill>
              </a:rPr>
              <a:t>물류대행</a:t>
            </a:r>
            <a:endParaRPr lang="en-US" altLang="ko-KR" sz="110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ko-KR" altLang="en-US" sz="1100" smtClean="0"/>
              <a:t>나에게 꼭 맞는</a:t>
            </a:r>
            <a:endParaRPr lang="en-US" altLang="ko-KR" sz="1100" smtClean="0"/>
          </a:p>
          <a:p>
            <a:r>
              <a:rPr lang="ko-KR" altLang="en-US" sz="1100" smtClean="0"/>
              <a:t>창고를 찾자</a:t>
            </a:r>
            <a:r>
              <a:rPr lang="en-US" altLang="ko-KR" sz="1100" smtClean="0"/>
              <a:t>!</a:t>
            </a:r>
            <a:endParaRPr lang="ko-KR" altLang="en-US" sz="1100"/>
          </a:p>
        </p:txBody>
      </p:sp>
      <p:sp>
        <p:nvSpPr>
          <p:cNvPr id="23" name="직사각형 22"/>
          <p:cNvSpPr/>
          <p:nvPr/>
        </p:nvSpPr>
        <p:spPr>
          <a:xfrm>
            <a:off x="8017455" y="321289"/>
            <a:ext cx="1718734" cy="788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8000335" y="367455"/>
            <a:ext cx="184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>
                <a:solidFill>
                  <a:srgbClr val="FF0000"/>
                </a:solidFill>
                <a:latin typeface="나눔고딕OTF 에코 ExtraBold" panose="020D0904000000000000" pitchFamily="34" charset="-127"/>
                <a:ea typeface="나눔고딕OTF 에코 ExtraBold" panose="020D0904000000000000" pitchFamily="34" charset="-127"/>
              </a:rPr>
              <a:t>파주 일산 </a:t>
            </a:r>
            <a:endParaRPr lang="en-US" altLang="ko-KR" smtClean="0">
              <a:solidFill>
                <a:srgbClr val="FF0000"/>
              </a:solidFill>
              <a:latin typeface="나눔고딕OTF 에코 ExtraBold" panose="020D0904000000000000" pitchFamily="34" charset="-127"/>
              <a:ea typeface="나눔고딕OTF 에코 ExtraBold" panose="020D0904000000000000" pitchFamily="34" charset="-127"/>
            </a:endParaRPr>
          </a:p>
          <a:p>
            <a:r>
              <a:rPr lang="en-US" altLang="ko-KR" smtClean="0">
                <a:solidFill>
                  <a:srgbClr val="FF0000"/>
                </a:solidFill>
                <a:latin typeface="나눔고딕OTF 에코 ExtraBold" panose="020D0904000000000000" pitchFamily="34" charset="-127"/>
                <a:ea typeface="나눔고딕OTF 에코 ExtraBold" panose="020D0904000000000000" pitchFamily="34" charset="-127"/>
              </a:rPr>
              <a:t>3PL </a:t>
            </a:r>
            <a:r>
              <a:rPr lang="ko-KR" altLang="en-US" smtClean="0">
                <a:solidFill>
                  <a:srgbClr val="FF0000"/>
                </a:solidFill>
                <a:latin typeface="나눔고딕OTF 에코 ExtraBold" panose="020D0904000000000000" pitchFamily="34" charset="-127"/>
                <a:ea typeface="나눔고딕OTF 에코 ExtraBold" panose="020D0904000000000000" pitchFamily="34" charset="-127"/>
              </a:rPr>
              <a:t>물류</a:t>
            </a:r>
            <a:endParaRPr lang="en-US" altLang="ko-KR" smtClean="0">
              <a:solidFill>
                <a:srgbClr val="FF0000"/>
              </a:solidFill>
              <a:latin typeface="나눔고딕OTF 에코 ExtraBold" panose="020D0904000000000000" pitchFamily="34" charset="-127"/>
              <a:ea typeface="나눔고딕OTF 에코 ExtraBold" panose="020D0904000000000000" pitchFamily="34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514599" y="2918960"/>
            <a:ext cx="4868333" cy="2000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/>
          <p:cNvGrpSpPr/>
          <p:nvPr/>
        </p:nvGrpSpPr>
        <p:grpSpPr>
          <a:xfrm>
            <a:off x="2526048" y="2935141"/>
            <a:ext cx="2292891" cy="1904924"/>
            <a:chOff x="978719" y="1682825"/>
            <a:chExt cx="2292891" cy="1904924"/>
          </a:xfrm>
        </p:grpSpPr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78719" y="1682825"/>
              <a:ext cx="2292891" cy="19049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9" name="TextBox 28"/>
            <p:cNvSpPr txBox="1"/>
            <p:nvPr/>
          </p:nvSpPr>
          <p:spPr>
            <a:xfrm>
              <a:off x="1032504" y="1705213"/>
              <a:ext cx="22284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smtClean="0"/>
                <a:t>김포 </a:t>
              </a:r>
              <a:r>
                <a:rPr lang="en-US" altLang="ko-KR" sz="1200" smtClean="0"/>
                <a:t>/ (100</a:t>
              </a:r>
              <a:r>
                <a:rPr lang="ko-KR" altLang="en-US" sz="1200" smtClean="0"/>
                <a:t>평 中 </a:t>
              </a:r>
              <a:r>
                <a:rPr lang="en-US" altLang="ko-KR" sz="1200" smtClean="0"/>
                <a:t>30</a:t>
              </a:r>
              <a:r>
                <a:rPr lang="ko-KR" altLang="en-US" sz="1200" smtClean="0"/>
                <a:t>평</a:t>
              </a:r>
              <a:r>
                <a:rPr lang="en-US" altLang="ko-KR" sz="1200" smtClean="0"/>
                <a:t>)</a:t>
              </a:r>
              <a:r>
                <a:rPr lang="ko-KR" altLang="en-US" sz="1200" smtClean="0"/>
                <a:t> </a:t>
              </a:r>
              <a:r>
                <a:rPr lang="en-US" altLang="ko-KR" sz="1200" smtClean="0"/>
                <a:t>/ </a:t>
              </a:r>
              <a:r>
                <a:rPr lang="ko-KR" altLang="en-US" sz="1200" smtClean="0"/>
                <a:t>상온</a:t>
              </a:r>
              <a:endParaRPr lang="ko-KR" altLang="en-US" sz="1200"/>
            </a:p>
          </p:txBody>
        </p:sp>
        <p:cxnSp>
          <p:nvCxnSpPr>
            <p:cNvPr id="31" name="직선 연결선 30"/>
            <p:cNvCxnSpPr/>
            <p:nvPr/>
          </p:nvCxnSpPr>
          <p:spPr>
            <a:xfrm>
              <a:off x="978719" y="2072860"/>
              <a:ext cx="22928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직사각형 31"/>
            <p:cNvSpPr/>
            <p:nvPr/>
          </p:nvSpPr>
          <p:spPr>
            <a:xfrm>
              <a:off x="1032504" y="2184967"/>
              <a:ext cx="1030902" cy="12615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047562" y="2372247"/>
              <a:ext cx="119295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smtClean="0"/>
                <a:t>가나 </a:t>
              </a:r>
              <a:r>
                <a:rPr lang="en-US" altLang="ko-KR" sz="1200" smtClean="0"/>
                <a:t>3PL</a:t>
              </a:r>
            </a:p>
            <a:p>
              <a:r>
                <a:rPr lang="ko-KR" altLang="en-US" sz="1050" smtClean="0"/>
                <a:t>경력 </a:t>
              </a:r>
              <a:r>
                <a:rPr lang="en-US" altLang="ko-KR" sz="1050" smtClean="0"/>
                <a:t>:</a:t>
              </a:r>
              <a:r>
                <a:rPr lang="ko-KR" altLang="en-US" sz="1050" smtClean="0"/>
                <a:t> </a:t>
              </a:r>
              <a:r>
                <a:rPr lang="en-US" altLang="ko-KR" sz="1050" smtClean="0"/>
                <a:t>10</a:t>
              </a:r>
              <a:r>
                <a:rPr lang="ko-KR" altLang="en-US" sz="1050" smtClean="0"/>
                <a:t>년</a:t>
              </a:r>
              <a:endParaRPr lang="en-US" altLang="ko-KR" sz="1050" smtClean="0"/>
            </a:p>
            <a:p>
              <a:r>
                <a:rPr lang="ko-KR" altLang="en-US" sz="1050" smtClean="0"/>
                <a:t>취급 </a:t>
              </a:r>
              <a:r>
                <a:rPr lang="en-US" altLang="ko-KR" sz="1050" smtClean="0"/>
                <a:t>: </a:t>
              </a:r>
              <a:r>
                <a:rPr lang="ko-KR" altLang="en-US" sz="1050" smtClean="0"/>
                <a:t>공산품</a:t>
              </a:r>
              <a:endParaRPr lang="en-US" altLang="ko-KR" sz="1050"/>
            </a:p>
            <a:p>
              <a:r>
                <a:rPr lang="ko-KR" altLang="en-US" sz="1050" smtClean="0"/>
                <a:t>솔루션 </a:t>
              </a:r>
              <a:r>
                <a:rPr lang="en-US" altLang="ko-KR" sz="1050" smtClean="0"/>
                <a:t>: E</a:t>
              </a:r>
              <a:r>
                <a:rPr lang="ko-KR" altLang="en-US" sz="1050" smtClean="0"/>
                <a:t>카운트</a:t>
              </a:r>
              <a:endParaRPr lang="en-US" altLang="ko-KR" sz="1050" smtClean="0"/>
            </a:p>
            <a:p>
              <a:r>
                <a:rPr lang="ko-KR" altLang="en-US" sz="1050" smtClean="0"/>
                <a:t>택배사 </a:t>
              </a:r>
              <a:r>
                <a:rPr lang="en-US" altLang="ko-KR" sz="1050" smtClean="0"/>
                <a:t>: CJ, </a:t>
              </a:r>
              <a:r>
                <a:rPr lang="ko-KR" altLang="en-US" sz="1050" smtClean="0"/>
                <a:t>롯데</a:t>
              </a:r>
              <a:endParaRPr lang="en-US" altLang="ko-KR" sz="1050" smtClean="0"/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4948765" y="2935141"/>
            <a:ext cx="4880387" cy="1904924"/>
            <a:chOff x="4948765" y="2935141"/>
            <a:chExt cx="4880387" cy="1904924"/>
          </a:xfrm>
        </p:grpSpPr>
        <p:pic>
          <p:nvPicPr>
            <p:cNvPr id="37" name="그림 3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48765" y="2935141"/>
              <a:ext cx="2292891" cy="19049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8" name="TextBox 37"/>
            <p:cNvSpPr txBox="1"/>
            <p:nvPr/>
          </p:nvSpPr>
          <p:spPr>
            <a:xfrm>
              <a:off x="5002550" y="2957529"/>
              <a:ext cx="22284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smtClean="0"/>
                <a:t>파주 </a:t>
              </a:r>
              <a:r>
                <a:rPr lang="en-US" altLang="ko-KR" sz="1200" smtClean="0"/>
                <a:t>/ (700</a:t>
              </a:r>
              <a:r>
                <a:rPr lang="ko-KR" altLang="en-US" sz="1200" smtClean="0"/>
                <a:t>평 中 </a:t>
              </a:r>
              <a:r>
                <a:rPr lang="en-US" altLang="ko-KR" sz="1200" smtClean="0"/>
                <a:t>50</a:t>
              </a:r>
              <a:r>
                <a:rPr lang="ko-KR" altLang="en-US" sz="1200" smtClean="0"/>
                <a:t>평</a:t>
              </a:r>
              <a:r>
                <a:rPr lang="en-US" altLang="ko-KR" sz="1200" smtClean="0"/>
                <a:t>)</a:t>
              </a:r>
              <a:r>
                <a:rPr lang="ko-KR" altLang="en-US" sz="1200" smtClean="0"/>
                <a:t> </a:t>
              </a:r>
              <a:r>
                <a:rPr lang="en-US" altLang="ko-KR" sz="1200" smtClean="0"/>
                <a:t>/ </a:t>
              </a:r>
              <a:r>
                <a:rPr lang="ko-KR" altLang="en-US" sz="1200" smtClean="0"/>
                <a:t>상온</a:t>
              </a:r>
              <a:endParaRPr lang="ko-KR" altLang="en-US" sz="1200"/>
            </a:p>
          </p:txBody>
        </p:sp>
        <p:cxnSp>
          <p:nvCxnSpPr>
            <p:cNvPr id="39" name="직선 연결선 38"/>
            <p:cNvCxnSpPr/>
            <p:nvPr/>
          </p:nvCxnSpPr>
          <p:spPr>
            <a:xfrm>
              <a:off x="4948765" y="3325176"/>
              <a:ext cx="22928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직사각형 39"/>
            <p:cNvSpPr/>
            <p:nvPr/>
          </p:nvSpPr>
          <p:spPr>
            <a:xfrm>
              <a:off x="5002550" y="3437283"/>
              <a:ext cx="1030902" cy="12615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17608" y="3624563"/>
              <a:ext cx="132921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smtClean="0"/>
                <a:t>다라 </a:t>
              </a:r>
              <a:r>
                <a:rPr lang="en-US" altLang="ko-KR" sz="1200" smtClean="0"/>
                <a:t>3PL</a:t>
              </a:r>
            </a:p>
            <a:p>
              <a:r>
                <a:rPr lang="ko-KR" altLang="en-US" sz="1050" smtClean="0"/>
                <a:t>경력 </a:t>
              </a:r>
              <a:r>
                <a:rPr lang="en-US" altLang="ko-KR" sz="1050" smtClean="0"/>
                <a:t>:</a:t>
              </a:r>
              <a:r>
                <a:rPr lang="ko-KR" altLang="en-US" sz="1050" smtClean="0"/>
                <a:t> </a:t>
              </a:r>
              <a:r>
                <a:rPr lang="en-US" altLang="ko-KR" sz="1050" smtClean="0"/>
                <a:t>5</a:t>
              </a:r>
              <a:r>
                <a:rPr lang="ko-KR" altLang="en-US" sz="1050" smtClean="0"/>
                <a:t>년</a:t>
              </a:r>
              <a:endParaRPr lang="en-US" altLang="ko-KR" sz="1050" smtClean="0"/>
            </a:p>
            <a:p>
              <a:r>
                <a:rPr lang="ko-KR" altLang="en-US" sz="1050" smtClean="0"/>
                <a:t>취급 </a:t>
              </a:r>
              <a:r>
                <a:rPr lang="en-US" altLang="ko-KR" sz="1050" smtClean="0"/>
                <a:t>: </a:t>
              </a:r>
              <a:r>
                <a:rPr lang="ko-KR" altLang="en-US" sz="1050" smtClean="0"/>
                <a:t>공산품</a:t>
              </a:r>
              <a:r>
                <a:rPr lang="en-US" altLang="ko-KR" sz="1050" smtClean="0"/>
                <a:t>, </a:t>
              </a:r>
              <a:r>
                <a:rPr lang="ko-KR" altLang="en-US" sz="1050" smtClean="0"/>
                <a:t>식품</a:t>
              </a:r>
              <a:endParaRPr lang="en-US" altLang="ko-KR" sz="1050"/>
            </a:p>
            <a:p>
              <a:r>
                <a:rPr lang="ko-KR" altLang="en-US" sz="1050" smtClean="0"/>
                <a:t>솔루션 </a:t>
              </a:r>
              <a:r>
                <a:rPr lang="en-US" altLang="ko-KR" sz="1050" smtClean="0"/>
                <a:t>: E</a:t>
              </a:r>
              <a:r>
                <a:rPr lang="ko-KR" altLang="en-US" sz="1050" smtClean="0"/>
                <a:t>카운트</a:t>
              </a:r>
              <a:endParaRPr lang="en-US" altLang="ko-KR" sz="1050" smtClean="0"/>
            </a:p>
            <a:p>
              <a:r>
                <a:rPr lang="ko-KR" altLang="en-US" sz="1050" smtClean="0"/>
                <a:t>택배사 </a:t>
              </a:r>
              <a:r>
                <a:rPr lang="en-US" altLang="ko-KR" sz="1050" smtClean="0"/>
                <a:t>: </a:t>
              </a:r>
              <a:r>
                <a:rPr lang="ko-KR" altLang="en-US" sz="1050" smtClean="0"/>
                <a:t>롯데</a:t>
              </a:r>
              <a:endParaRPr lang="en-US" altLang="ko-KR" sz="1050" smtClean="0"/>
            </a:p>
          </p:txBody>
        </p:sp>
        <p:pic>
          <p:nvPicPr>
            <p:cNvPr id="48" name="그림 4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31099" y="2935141"/>
              <a:ext cx="2292891" cy="19049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9" name="TextBox 48"/>
            <p:cNvSpPr txBox="1"/>
            <p:nvPr/>
          </p:nvSpPr>
          <p:spPr>
            <a:xfrm>
              <a:off x="7484884" y="2957529"/>
              <a:ext cx="22284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smtClean="0"/>
                <a:t>일산 </a:t>
              </a:r>
              <a:r>
                <a:rPr lang="en-US" altLang="ko-KR" sz="1200" smtClean="0"/>
                <a:t>/ (700</a:t>
              </a:r>
              <a:r>
                <a:rPr lang="ko-KR" altLang="en-US" sz="1200" smtClean="0"/>
                <a:t>평 中 </a:t>
              </a:r>
              <a:r>
                <a:rPr lang="en-US" altLang="ko-KR" sz="1200" smtClean="0"/>
                <a:t>50</a:t>
              </a:r>
              <a:r>
                <a:rPr lang="ko-KR" altLang="en-US" sz="1200" smtClean="0"/>
                <a:t>평</a:t>
              </a:r>
              <a:r>
                <a:rPr lang="en-US" altLang="ko-KR" sz="1200" smtClean="0"/>
                <a:t>)</a:t>
              </a:r>
              <a:r>
                <a:rPr lang="ko-KR" altLang="en-US" sz="1200" smtClean="0"/>
                <a:t> </a:t>
              </a:r>
              <a:r>
                <a:rPr lang="en-US" altLang="ko-KR" sz="1200" smtClean="0"/>
                <a:t>/ </a:t>
              </a:r>
              <a:r>
                <a:rPr lang="ko-KR" altLang="en-US" sz="1200" smtClean="0"/>
                <a:t>상온</a:t>
              </a:r>
              <a:endParaRPr lang="ko-KR" altLang="en-US" sz="1200"/>
            </a:p>
          </p:txBody>
        </p:sp>
        <p:cxnSp>
          <p:nvCxnSpPr>
            <p:cNvPr id="50" name="직선 연결선 49"/>
            <p:cNvCxnSpPr/>
            <p:nvPr/>
          </p:nvCxnSpPr>
          <p:spPr>
            <a:xfrm>
              <a:off x="7431099" y="3325176"/>
              <a:ext cx="22928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직사각형 50"/>
            <p:cNvSpPr/>
            <p:nvPr/>
          </p:nvSpPr>
          <p:spPr>
            <a:xfrm>
              <a:off x="7484884" y="3437283"/>
              <a:ext cx="1030902" cy="12615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499942" y="3624563"/>
              <a:ext cx="132921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smtClean="0"/>
                <a:t>마바 </a:t>
              </a:r>
              <a:r>
                <a:rPr lang="en-US" altLang="ko-KR" sz="1200" smtClean="0"/>
                <a:t>3PL</a:t>
              </a:r>
            </a:p>
            <a:p>
              <a:r>
                <a:rPr lang="ko-KR" altLang="en-US" sz="1050" smtClean="0"/>
                <a:t>경력 </a:t>
              </a:r>
              <a:r>
                <a:rPr lang="en-US" altLang="ko-KR" sz="1050" smtClean="0"/>
                <a:t>:</a:t>
              </a:r>
              <a:r>
                <a:rPr lang="ko-KR" altLang="en-US" sz="1050" smtClean="0"/>
                <a:t> </a:t>
              </a:r>
              <a:r>
                <a:rPr lang="en-US" altLang="ko-KR" sz="1050" smtClean="0"/>
                <a:t>5</a:t>
              </a:r>
              <a:r>
                <a:rPr lang="ko-KR" altLang="en-US" sz="1050" smtClean="0"/>
                <a:t>년</a:t>
              </a:r>
              <a:endParaRPr lang="en-US" altLang="ko-KR" sz="1050" smtClean="0"/>
            </a:p>
            <a:p>
              <a:r>
                <a:rPr lang="ko-KR" altLang="en-US" sz="1050" smtClean="0"/>
                <a:t>취급 </a:t>
              </a:r>
              <a:r>
                <a:rPr lang="en-US" altLang="ko-KR" sz="1050" smtClean="0"/>
                <a:t>: </a:t>
              </a:r>
              <a:r>
                <a:rPr lang="ko-KR" altLang="en-US" sz="1050" smtClean="0"/>
                <a:t>공산품</a:t>
              </a:r>
              <a:r>
                <a:rPr lang="en-US" altLang="ko-KR" sz="1050" smtClean="0"/>
                <a:t>, </a:t>
              </a:r>
              <a:r>
                <a:rPr lang="ko-KR" altLang="en-US" sz="1050" smtClean="0"/>
                <a:t>식품</a:t>
              </a:r>
              <a:endParaRPr lang="en-US" altLang="ko-KR" sz="1050"/>
            </a:p>
            <a:p>
              <a:r>
                <a:rPr lang="ko-KR" altLang="en-US" sz="1050" smtClean="0"/>
                <a:t>솔루션 </a:t>
              </a:r>
              <a:r>
                <a:rPr lang="en-US" altLang="ko-KR" sz="1050" smtClean="0"/>
                <a:t>: E</a:t>
              </a:r>
              <a:r>
                <a:rPr lang="ko-KR" altLang="en-US" sz="1050" smtClean="0"/>
                <a:t>카운트</a:t>
              </a:r>
              <a:endParaRPr lang="en-US" altLang="ko-KR" sz="1050" smtClean="0"/>
            </a:p>
            <a:p>
              <a:r>
                <a:rPr lang="ko-KR" altLang="en-US" sz="1050" smtClean="0"/>
                <a:t>택배사 </a:t>
              </a:r>
              <a:r>
                <a:rPr lang="en-US" altLang="ko-KR" sz="1050" smtClean="0"/>
                <a:t>: CJ</a:t>
              </a:r>
            </a:p>
          </p:txBody>
        </p:sp>
      </p:grpSp>
      <p:pic>
        <p:nvPicPr>
          <p:cNvPr id="44" name="그림 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434" y="4862452"/>
            <a:ext cx="8112099" cy="1995547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2537932" y="5054600"/>
            <a:ext cx="7198257" cy="1663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2546481" y="5124502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일반 창고 리스트</a:t>
            </a:r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2573044" y="5514103"/>
            <a:ext cx="4043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업체명 </a:t>
            </a:r>
            <a:r>
              <a:rPr lang="en-US" altLang="ko-KR" sz="1400" smtClean="0"/>
              <a:t>/    </a:t>
            </a:r>
            <a:r>
              <a:rPr lang="ko-KR" altLang="en-US" sz="1400" smtClean="0"/>
              <a:t>지역    </a:t>
            </a:r>
            <a:r>
              <a:rPr lang="en-US" altLang="ko-KR" sz="1400" smtClean="0"/>
              <a:t>/    </a:t>
            </a:r>
            <a:r>
              <a:rPr lang="ko-KR" altLang="en-US" sz="1400" smtClean="0"/>
              <a:t>필요 면적   </a:t>
            </a:r>
            <a:r>
              <a:rPr lang="en-US" altLang="ko-KR" sz="1400" smtClean="0"/>
              <a:t>/   </a:t>
            </a:r>
            <a:r>
              <a:rPr lang="ko-KR" altLang="en-US" sz="1400" smtClean="0"/>
              <a:t>상품 유형</a:t>
            </a:r>
            <a:endParaRPr lang="ko-KR" altLang="en-US" sz="1400"/>
          </a:p>
        </p:txBody>
      </p:sp>
      <p:sp>
        <p:nvSpPr>
          <p:cNvPr id="55" name="TextBox 54"/>
          <p:cNvSpPr txBox="1"/>
          <p:nvPr/>
        </p:nvSpPr>
        <p:spPr>
          <a:xfrm>
            <a:off x="2563220" y="5739809"/>
            <a:ext cx="36647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/>
              <a:t>A</a:t>
            </a:r>
            <a:r>
              <a:rPr lang="ko-KR" altLang="en-US" sz="1400" smtClean="0"/>
              <a:t>ㅇㅇ </a:t>
            </a:r>
            <a:r>
              <a:rPr lang="en-US" altLang="ko-KR" sz="1400" smtClean="0"/>
              <a:t>  </a:t>
            </a:r>
            <a:r>
              <a:rPr lang="ko-KR" altLang="en-US" sz="1400" smtClean="0"/>
              <a:t>서울 금천구       </a:t>
            </a:r>
            <a:r>
              <a:rPr lang="en-US" altLang="ko-KR" sz="1400" smtClean="0"/>
              <a:t>30</a:t>
            </a:r>
            <a:r>
              <a:rPr lang="ko-KR" altLang="en-US" sz="1400" smtClean="0"/>
              <a:t>평        공산품</a:t>
            </a:r>
            <a:endParaRPr lang="en-US" altLang="ko-KR" sz="1400" smtClean="0"/>
          </a:p>
          <a:p>
            <a:r>
              <a:rPr lang="en-US" altLang="ko-KR" sz="1400" smtClean="0"/>
              <a:t>B</a:t>
            </a:r>
            <a:r>
              <a:rPr lang="ko-KR" altLang="en-US" sz="1400" smtClean="0"/>
              <a:t>ㅇㅇ   경기 파주         </a:t>
            </a:r>
            <a:r>
              <a:rPr lang="en-US" altLang="ko-KR" sz="1400" smtClean="0"/>
              <a:t>50</a:t>
            </a:r>
            <a:r>
              <a:rPr lang="ko-KR" altLang="en-US" sz="1400" smtClean="0"/>
              <a:t>평           식품</a:t>
            </a:r>
            <a:endParaRPr lang="ko-KR" altLang="en-US" sz="1400"/>
          </a:p>
        </p:txBody>
      </p:sp>
      <p:sp>
        <p:nvSpPr>
          <p:cNvPr id="56" name="Title 1">
            <a:extLst>
              <a:ext uri="{FF2B5EF4-FFF2-40B4-BE49-F238E27FC236}">
                <a16:creationId xmlns=""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 rot="16200000">
            <a:off x="-2491763" y="2440627"/>
            <a:ext cx="5724644" cy="707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wrap="square" lIns="91440" tIns="45720" rIns="91440" bIns="45720" rtlCol="0" anchor="ctr">
            <a:spAutoFit/>
          </a:bodyPr>
          <a:lstStyle>
            <a:lvl1pPr algn="l" defTabSz="914354" rtl="0" eaLnBrk="1" latinLnBrk="0" hangingPunct="1">
              <a:spcBef>
                <a:spcPct val="0"/>
              </a:spcBef>
              <a:buNone/>
              <a:defRPr lang="en-US" sz="4000" b="1" kern="1200" cap="all" normalizeH="0" baseline="0">
                <a:solidFill>
                  <a:srgbClr val="2F3A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사이트 레이아웃 예시</a:t>
            </a: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srgbClr val="2F3A46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 rot="5400000" flipV="1">
            <a:off x="-2089055" y="2878288"/>
            <a:ext cx="5496566" cy="606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모서리가 둥근 직사각형 57"/>
          <p:cNvSpPr/>
          <p:nvPr/>
        </p:nvSpPr>
        <p:spPr>
          <a:xfrm rot="5400000">
            <a:off x="-2046172" y="2970548"/>
            <a:ext cx="5656948" cy="45719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4784195" y="846383"/>
            <a:ext cx="2646904" cy="1674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998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84326" y="1822599"/>
            <a:ext cx="954707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smtClean="0"/>
              <a:t>총면적 </a:t>
            </a:r>
            <a:r>
              <a:rPr lang="ko-KR" altLang="en-US" sz="2000"/>
              <a:t>/ </a:t>
            </a:r>
            <a:r>
              <a:rPr lang="ko-KR" altLang="en-US" sz="2000" smtClean="0"/>
              <a:t>각 창고 개수 </a:t>
            </a:r>
            <a:r>
              <a:rPr lang="en-US" altLang="ko-KR" sz="2000" smtClean="0"/>
              <a:t>/ </a:t>
            </a:r>
            <a:r>
              <a:rPr lang="ko-KR" altLang="en-US" sz="2000" smtClean="0"/>
              <a:t>창고 </a:t>
            </a:r>
            <a:r>
              <a:rPr lang="ko-KR" altLang="en-US" sz="2000"/>
              <a:t>총 면적 </a:t>
            </a:r>
            <a:r>
              <a:rPr lang="ko-KR" altLang="en-US" sz="2000" smtClean="0"/>
              <a:t>/ 계약가능면적 </a:t>
            </a:r>
            <a:r>
              <a:rPr lang="ko-KR" altLang="en-US" sz="2000"/>
              <a:t>/ 창고 상온 저온 여부 </a:t>
            </a:r>
            <a:endParaRPr lang="en-US" altLang="ko-KR" sz="2000" smtClean="0"/>
          </a:p>
          <a:p>
            <a:r>
              <a:rPr lang="ko-KR" altLang="en-US" sz="2000" smtClean="0"/>
              <a:t>사용하는 배송사 </a:t>
            </a:r>
            <a:r>
              <a:rPr lang="en-US" altLang="ko-KR" sz="2000" smtClean="0"/>
              <a:t>/</a:t>
            </a:r>
            <a:r>
              <a:rPr lang="ko-KR" altLang="en-US" sz="2000" smtClean="0"/>
              <a:t>사용하는 솔루션(</a:t>
            </a:r>
            <a:r>
              <a:rPr lang="ko-KR" altLang="en-US" sz="2000"/>
              <a:t>e카운트, 셀메이트, 수기 등)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31458" y="798308"/>
            <a:ext cx="7962497" cy="7315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31458" y="916212"/>
            <a:ext cx="8765918" cy="7031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0" y="34127"/>
            <a:ext cx="11753174" cy="707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54" rtl="0" eaLnBrk="1" latinLnBrk="0" hangingPunct="1">
              <a:spcBef>
                <a:spcPct val="0"/>
              </a:spcBef>
              <a:buNone/>
              <a:defRPr lang="en-US" sz="4000" b="1" kern="1200" cap="all" normalizeH="0" baseline="0">
                <a:solidFill>
                  <a:srgbClr val="2F3A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회원 가입 시 추가 정보 입력</a:t>
            </a: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srgbClr val="2F3A46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6267" y="1296417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/>
              <a:t>물류 대행사</a:t>
            </a:r>
            <a:endParaRPr lang="ko-KR" altLang="en-US" sz="2400" b="1"/>
          </a:p>
        </p:txBody>
      </p:sp>
      <p:sp>
        <p:nvSpPr>
          <p:cNvPr id="8" name="TextBox 7"/>
          <p:cNvSpPr txBox="1"/>
          <p:nvPr/>
        </p:nvSpPr>
        <p:spPr>
          <a:xfrm>
            <a:off x="186267" y="2930483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/>
              <a:t>물류 고객사</a:t>
            </a:r>
            <a:endParaRPr lang="ko-KR" altLang="en-US" sz="2400" b="1"/>
          </a:p>
        </p:txBody>
      </p:sp>
      <p:sp>
        <p:nvSpPr>
          <p:cNvPr id="9" name="직사각형 8"/>
          <p:cNvSpPr/>
          <p:nvPr/>
        </p:nvSpPr>
        <p:spPr>
          <a:xfrm>
            <a:off x="384326" y="3392148"/>
            <a:ext cx="95470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smtClean="0"/>
              <a:t>사용할 총면적 </a:t>
            </a:r>
            <a:r>
              <a:rPr lang="ko-KR" altLang="en-US" sz="2000"/>
              <a:t>/ </a:t>
            </a:r>
            <a:r>
              <a:rPr lang="ko-KR" altLang="en-US" sz="2000" smtClean="0"/>
              <a:t>원하는 배송사 </a:t>
            </a:r>
            <a:r>
              <a:rPr lang="en-US" altLang="ko-KR" sz="2000" smtClean="0"/>
              <a:t>/ </a:t>
            </a:r>
            <a:r>
              <a:rPr lang="ko-KR" altLang="en-US" sz="2000" smtClean="0"/>
              <a:t>월 평균 출고량 </a:t>
            </a:r>
            <a:r>
              <a:rPr lang="en-US" altLang="ko-KR" sz="2000" smtClean="0"/>
              <a:t>/ </a:t>
            </a:r>
            <a:r>
              <a:rPr lang="ko-KR" altLang="en-US" sz="2000" smtClean="0"/>
              <a:t>취급 물품 종류</a:t>
            </a:r>
            <a:endParaRPr lang="ko-KR" altLang="en-US" sz="2000"/>
          </a:p>
        </p:txBody>
      </p:sp>
      <p:sp>
        <p:nvSpPr>
          <p:cNvPr id="11" name="TextBox 10"/>
          <p:cNvSpPr txBox="1"/>
          <p:nvPr/>
        </p:nvSpPr>
        <p:spPr>
          <a:xfrm>
            <a:off x="110066" y="5130799"/>
            <a:ext cx="10642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rgbClr val="C00000"/>
                </a:solidFill>
              </a:rPr>
              <a:t>추후 자신들이 원하는 대행사</a:t>
            </a:r>
            <a:r>
              <a:rPr lang="en-US" altLang="ko-KR" sz="2400" b="1" smtClean="0">
                <a:solidFill>
                  <a:srgbClr val="C00000"/>
                </a:solidFill>
              </a:rPr>
              <a:t>/</a:t>
            </a:r>
            <a:r>
              <a:rPr lang="ko-KR" altLang="en-US" sz="2400" b="1" smtClean="0">
                <a:solidFill>
                  <a:srgbClr val="C00000"/>
                </a:solidFill>
              </a:rPr>
              <a:t>고객사를 쉽게 매칭 할 수 있도록 하는 시스템</a:t>
            </a:r>
            <a:endParaRPr lang="ko-KR" altLang="en-US" sz="2400" b="1">
              <a:solidFill>
                <a:srgbClr val="C00000"/>
              </a:solidFill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86267" y="5626331"/>
            <a:ext cx="1045633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0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모서리가 둥근 직사각형 19"/>
          <p:cNvSpPr/>
          <p:nvPr/>
        </p:nvSpPr>
        <p:spPr>
          <a:xfrm>
            <a:off x="31458" y="798308"/>
            <a:ext cx="7962497" cy="7315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31458" y="916212"/>
            <a:ext cx="8765918" cy="7031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itle 1">
            <a:extLst>
              <a:ext uri="{FF2B5EF4-FFF2-40B4-BE49-F238E27FC236}">
                <a16:creationId xmlns=""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0" y="34127"/>
            <a:ext cx="11753174" cy="707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54" rtl="0" eaLnBrk="1" latinLnBrk="0" hangingPunct="1">
              <a:spcBef>
                <a:spcPct val="0"/>
              </a:spcBef>
              <a:buNone/>
              <a:defRPr lang="en-US" sz="4000" b="1" kern="1200" cap="all" normalizeH="0" baseline="0">
                <a:solidFill>
                  <a:srgbClr val="2F3A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예상 초기 비용</a:t>
            </a: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srgbClr val="2F3A46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18067" y="1278468"/>
            <a:ext cx="463460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3200" b="1" smtClean="0"/>
              <a:t>사이트 구축 비용</a:t>
            </a:r>
            <a:r>
              <a:rPr lang="en-US" altLang="ko-KR" sz="3200" b="1" smtClean="0"/>
              <a:t>(1</a:t>
            </a:r>
            <a:r>
              <a:rPr lang="ko-KR" altLang="en-US" sz="3200" b="1" smtClean="0"/>
              <a:t>회</a:t>
            </a:r>
            <a:r>
              <a:rPr lang="en-US" altLang="ko-KR" sz="3200" b="1" smtClean="0"/>
              <a:t>)</a:t>
            </a:r>
          </a:p>
          <a:p>
            <a:pPr marL="342900" indent="-342900">
              <a:buAutoNum type="arabicPeriod"/>
            </a:pPr>
            <a:endParaRPr lang="en-US" altLang="ko-KR" sz="3200" b="1" smtClean="0"/>
          </a:p>
          <a:p>
            <a:pPr marL="342900" indent="-342900">
              <a:buAutoNum type="arabicPeriod"/>
            </a:pPr>
            <a:r>
              <a:rPr lang="ko-KR" altLang="en-US" sz="3200" b="1" smtClean="0"/>
              <a:t>서버 비용</a:t>
            </a:r>
            <a:r>
              <a:rPr lang="en-US" altLang="ko-KR" sz="3200" b="1" smtClean="0"/>
              <a:t>(</a:t>
            </a:r>
            <a:r>
              <a:rPr lang="ko-KR" altLang="en-US" sz="3200" b="1" smtClean="0"/>
              <a:t>연간</a:t>
            </a:r>
            <a:r>
              <a:rPr lang="en-US" altLang="ko-KR" sz="3200" b="1" smtClean="0"/>
              <a:t>)</a:t>
            </a:r>
          </a:p>
          <a:p>
            <a:pPr marL="342900" indent="-342900">
              <a:buAutoNum type="arabicPeriod"/>
            </a:pPr>
            <a:endParaRPr lang="en-US" altLang="ko-KR" sz="3200" b="1" smtClean="0"/>
          </a:p>
          <a:p>
            <a:pPr marL="342900" indent="-342900">
              <a:buAutoNum type="arabicPeriod"/>
            </a:pPr>
            <a:r>
              <a:rPr lang="ko-KR" altLang="en-US" sz="3200" b="1" smtClean="0"/>
              <a:t>도메인 비용</a:t>
            </a:r>
            <a:r>
              <a:rPr lang="en-US" altLang="ko-KR" sz="3200" b="1" smtClean="0"/>
              <a:t>(</a:t>
            </a:r>
            <a:r>
              <a:rPr lang="ko-KR" altLang="en-US" sz="3200" b="1" smtClean="0"/>
              <a:t>연간</a:t>
            </a:r>
            <a:r>
              <a:rPr lang="en-US" altLang="ko-KR" sz="3200" b="1" smtClean="0"/>
              <a:t>)</a:t>
            </a:r>
          </a:p>
          <a:p>
            <a:pPr marL="342900" indent="-342900">
              <a:buAutoNum type="arabicPeriod"/>
            </a:pPr>
            <a:endParaRPr lang="en-US" altLang="ko-KR" sz="3200" b="1" smtClean="0"/>
          </a:p>
          <a:p>
            <a:pPr marL="342900" indent="-342900">
              <a:buAutoNum type="arabicPeriod"/>
            </a:pPr>
            <a:r>
              <a:rPr lang="ko-KR" altLang="en-US" sz="3200" b="1" smtClean="0"/>
              <a:t>디자인 비용</a:t>
            </a:r>
            <a:r>
              <a:rPr lang="en-US" altLang="ko-KR" sz="3200" b="1" smtClean="0"/>
              <a:t>(1</a:t>
            </a:r>
            <a:r>
              <a:rPr lang="ko-KR" altLang="en-US" sz="3200" b="1" smtClean="0"/>
              <a:t>회</a:t>
            </a:r>
            <a:r>
              <a:rPr lang="en-US" altLang="ko-KR" sz="3200" b="1" smtClean="0"/>
              <a:t>)</a:t>
            </a:r>
          </a:p>
          <a:p>
            <a:pPr marL="342900" indent="-342900">
              <a:buAutoNum type="arabicPeriod"/>
            </a:pPr>
            <a:endParaRPr lang="en-US" altLang="ko-KR" sz="3200" b="1" smtClean="0"/>
          </a:p>
          <a:p>
            <a:pPr marL="342900" indent="-342900">
              <a:buAutoNum type="arabicPeriod"/>
            </a:pPr>
            <a:r>
              <a:rPr lang="ko-KR" altLang="en-US" sz="3200" b="1" smtClean="0"/>
              <a:t>사이트 관리 비용</a:t>
            </a:r>
            <a:r>
              <a:rPr lang="en-US" altLang="ko-KR" sz="3200" b="1" smtClean="0"/>
              <a:t>(</a:t>
            </a:r>
            <a:r>
              <a:rPr lang="ko-KR" altLang="en-US" sz="3200" b="1" smtClean="0"/>
              <a:t>월</a:t>
            </a:r>
            <a:r>
              <a:rPr lang="en-US" altLang="ko-KR" sz="3200" b="1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54427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모서리가 둥근 직사각형 19"/>
          <p:cNvSpPr/>
          <p:nvPr/>
        </p:nvSpPr>
        <p:spPr>
          <a:xfrm>
            <a:off x="31458" y="798308"/>
            <a:ext cx="7962497" cy="7315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31458" y="916212"/>
            <a:ext cx="8765918" cy="7031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itle 1">
            <a:extLst>
              <a:ext uri="{FF2B5EF4-FFF2-40B4-BE49-F238E27FC236}">
                <a16:creationId xmlns="" xmlns:a16="http://schemas.microsoft.com/office/drawing/2014/main" id="{30B2F41B-3C74-43D4-BCE0-057C7021FC28}"/>
              </a:ext>
            </a:extLst>
          </p:cNvPr>
          <p:cNvSpPr txBox="1">
            <a:spLocks/>
          </p:cNvSpPr>
          <p:nvPr/>
        </p:nvSpPr>
        <p:spPr>
          <a:xfrm>
            <a:off x="0" y="34127"/>
            <a:ext cx="11753174" cy="707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54" rtl="0" eaLnBrk="1" latinLnBrk="0" hangingPunct="1">
              <a:spcBef>
                <a:spcPct val="0"/>
              </a:spcBef>
              <a:buNone/>
              <a:defRPr lang="en-US" sz="4000" b="1" kern="1200" cap="all" normalizeH="0" baseline="0">
                <a:solidFill>
                  <a:srgbClr val="2F3A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ko-KR" altLang="en-US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수익 구조 </a:t>
            </a: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srgbClr val="2F3A46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9467" y="1532467"/>
            <a:ext cx="1007198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2400" b="1" smtClean="0"/>
              <a:t>사이트 내 배너 광고</a:t>
            </a:r>
            <a:r>
              <a:rPr lang="en-US" altLang="ko-KR" sz="2400" b="1" smtClean="0"/>
              <a:t>(</a:t>
            </a:r>
            <a:r>
              <a:rPr lang="ko-KR" altLang="en-US" sz="2400" b="1" smtClean="0"/>
              <a:t>위치별</a:t>
            </a:r>
            <a:r>
              <a:rPr lang="en-US" altLang="ko-KR" sz="2400" b="1" smtClean="0"/>
              <a:t>,</a:t>
            </a:r>
            <a:r>
              <a:rPr lang="ko-KR" altLang="en-US" sz="2400" b="1" smtClean="0"/>
              <a:t> 월 단위 요금</a:t>
            </a:r>
            <a:r>
              <a:rPr lang="en-US" altLang="ko-KR" sz="2400" b="1" smtClean="0"/>
              <a:t>)</a:t>
            </a:r>
          </a:p>
          <a:p>
            <a:pPr marL="342900" indent="-342900">
              <a:buAutoNum type="arabicPeriod"/>
            </a:pPr>
            <a:endParaRPr lang="en-US" altLang="ko-KR" sz="2400" b="1" smtClean="0"/>
          </a:p>
          <a:p>
            <a:pPr marL="342900" indent="-342900">
              <a:buAutoNum type="arabicPeriod"/>
            </a:pPr>
            <a:r>
              <a:rPr lang="ko-KR" altLang="en-US" sz="2400" b="1" smtClean="0"/>
              <a:t>창고 업체의 스페셜 광고</a:t>
            </a:r>
            <a:r>
              <a:rPr lang="en-US" altLang="ko-KR" sz="2400" b="1" smtClean="0"/>
              <a:t>(</a:t>
            </a:r>
            <a:r>
              <a:rPr lang="ko-KR" altLang="en-US" sz="2400" b="1" smtClean="0"/>
              <a:t>월 단위 요금</a:t>
            </a:r>
            <a:r>
              <a:rPr lang="en-US" altLang="ko-KR" sz="2400" b="1" smtClean="0"/>
              <a:t>)</a:t>
            </a:r>
          </a:p>
          <a:p>
            <a:pPr marL="342900" indent="-342900">
              <a:buAutoNum type="arabicPeriod"/>
            </a:pPr>
            <a:endParaRPr lang="en-US" altLang="ko-KR" sz="2400" b="1" smtClean="0"/>
          </a:p>
          <a:p>
            <a:pPr marL="342900" indent="-342900">
              <a:buFontTx/>
              <a:buAutoNum type="arabicPeriod"/>
            </a:pPr>
            <a:r>
              <a:rPr lang="ko-KR" altLang="en-US" sz="2400" b="1" smtClean="0"/>
              <a:t>연락처</a:t>
            </a:r>
            <a:r>
              <a:rPr lang="en-US" altLang="ko-KR" sz="2400" b="1" smtClean="0"/>
              <a:t>&amp;</a:t>
            </a:r>
            <a:r>
              <a:rPr lang="ko-KR" altLang="en-US" sz="2400" b="1" smtClean="0"/>
              <a:t>업체명 열람권</a:t>
            </a:r>
            <a:r>
              <a:rPr lang="en-US" altLang="ko-KR" sz="2400" b="1" smtClean="0"/>
              <a:t>(</a:t>
            </a:r>
            <a:r>
              <a:rPr lang="ko-KR" altLang="en-US" sz="2400" b="1" smtClean="0"/>
              <a:t>고객사 ↔</a:t>
            </a:r>
            <a:r>
              <a:rPr lang="en-US" altLang="ko-KR" sz="2400" b="1" smtClean="0"/>
              <a:t> </a:t>
            </a:r>
            <a:r>
              <a:rPr lang="ko-KR" altLang="en-US" sz="2400" b="1" smtClean="0"/>
              <a:t>창고업체</a:t>
            </a:r>
            <a:r>
              <a:rPr lang="en-US" altLang="ko-KR" sz="2400" b="1" smtClean="0"/>
              <a:t>)</a:t>
            </a:r>
          </a:p>
          <a:p>
            <a:r>
              <a:rPr lang="en-US" altLang="ko-KR" sz="2400" b="1"/>
              <a:t> </a:t>
            </a:r>
            <a:r>
              <a:rPr lang="en-US" altLang="ko-KR" sz="2400" b="1" smtClean="0"/>
              <a:t>   (</a:t>
            </a:r>
            <a:r>
              <a:rPr lang="ko-KR" altLang="en-US" sz="2400" b="1" smtClean="0"/>
              <a:t>열람 </a:t>
            </a:r>
            <a:r>
              <a:rPr lang="ko-KR" altLang="en-US" sz="2400" b="1"/>
              <a:t>회차별 요금 </a:t>
            </a:r>
            <a:r>
              <a:rPr lang="en-US" altLang="ko-KR" sz="2400" b="1"/>
              <a:t>10</a:t>
            </a:r>
            <a:r>
              <a:rPr lang="ko-KR" altLang="en-US" sz="2400" b="1"/>
              <a:t>회</a:t>
            </a:r>
            <a:r>
              <a:rPr lang="en-US" altLang="ko-KR" sz="2400" b="1"/>
              <a:t>, 20</a:t>
            </a:r>
            <a:r>
              <a:rPr lang="ko-KR" altLang="en-US" sz="2400" b="1"/>
              <a:t>회</a:t>
            </a:r>
            <a:r>
              <a:rPr lang="en-US" altLang="ko-KR" sz="2400" b="1"/>
              <a:t>, 30</a:t>
            </a:r>
            <a:r>
              <a:rPr lang="ko-KR" altLang="en-US" sz="2400" b="1"/>
              <a:t>회</a:t>
            </a:r>
            <a:r>
              <a:rPr lang="en-US" altLang="ko-KR" sz="2400" b="1"/>
              <a:t>, </a:t>
            </a:r>
            <a:r>
              <a:rPr lang="ko-KR" altLang="en-US" sz="2400" b="1" smtClean="0"/>
              <a:t>기간 자유 </a:t>
            </a:r>
            <a:r>
              <a:rPr lang="ko-KR" altLang="en-US" sz="2400" b="1"/>
              <a:t>열람 등</a:t>
            </a:r>
            <a:r>
              <a:rPr lang="en-US" altLang="ko-KR" sz="2400" b="1" smtClean="0"/>
              <a:t>)</a:t>
            </a:r>
          </a:p>
          <a:p>
            <a:endParaRPr lang="en-US" altLang="ko-KR" sz="2400" b="1" smtClean="0"/>
          </a:p>
          <a:p>
            <a:pPr marL="342900" indent="-342900">
              <a:buAutoNum type="arabicPeriod" startAt="4"/>
            </a:pPr>
            <a:r>
              <a:rPr lang="ko-KR" altLang="en-US" sz="2400" b="1" smtClean="0"/>
              <a:t>에듀코의 경우 우선적으로 열람이 가능하여</a:t>
            </a:r>
            <a:r>
              <a:rPr lang="en-US" altLang="ko-KR" sz="2400" b="1" smtClean="0"/>
              <a:t>, </a:t>
            </a:r>
            <a:r>
              <a:rPr lang="ko-KR" altLang="en-US" sz="2400" b="1" smtClean="0"/>
              <a:t>마케팅에 있어서 유리함</a:t>
            </a:r>
            <a:r>
              <a:rPr lang="en-US" altLang="ko-KR" sz="2400" b="1" smtClean="0"/>
              <a:t>.</a:t>
            </a:r>
            <a:endParaRPr lang="en-US" altLang="ko-KR" sz="2400" b="1"/>
          </a:p>
        </p:txBody>
      </p:sp>
    </p:spTree>
    <p:extLst>
      <p:ext uri="{BB962C8B-B14F-4D97-AF65-F5344CB8AC3E}">
        <p14:creationId xmlns:p14="http://schemas.microsoft.com/office/powerpoint/2010/main" val="1362642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34359</TotalTime>
  <Words>845</Words>
  <Application>Microsoft Office PowerPoint</Application>
  <PresentationFormat>와이드스크린</PresentationFormat>
  <Paragraphs>195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HY견고딕</vt:lpstr>
      <vt:lpstr>HY헤드라인M</vt:lpstr>
      <vt:lpstr>Open Sans</vt:lpstr>
      <vt:lpstr>나눔고딕OTF 에코 ExtraBold</vt:lpstr>
      <vt:lpstr>맑은 고딕</vt:lpstr>
      <vt:lpstr>인천교육소통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이덕성</dc:creator>
  <cp:lastModifiedBy>이덕성</cp:lastModifiedBy>
  <cp:revision>70</cp:revision>
  <dcterms:created xsi:type="dcterms:W3CDTF">2023-10-23T05:14:48Z</dcterms:created>
  <dcterms:modified xsi:type="dcterms:W3CDTF">2024-04-26T07:21:36Z</dcterms:modified>
</cp:coreProperties>
</file>